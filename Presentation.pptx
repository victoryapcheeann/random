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Lst>
  <p:sldSz cy="5143500" cx="9144000"/>
  <p:notesSz cx="6858000" cy="9144000"/>
  <p:embeddedFontLst>
    <p:embeddedFont>
      <p:font typeface="Roboto"/>
      <p:regular r:id="rId149"/>
      <p:bold r:id="rId150"/>
      <p:italic r:id="rId151"/>
      <p:boldItalic r:id="rId152"/>
    </p:embeddedFont>
    <p:embeddedFont>
      <p:font typeface="Roboto Mono"/>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40739C-67F7-4B14-85D5-AACBD16AE2FA}">
  <a:tblStyle styleId="{E140739C-67F7-4B14-85D5-AACBD16AE2F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font" Target="fonts/Roboto-bold.fntdata"/><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font" Target="fonts/Roboto-regular.fntdata"/><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154" Type="http://schemas.openxmlformats.org/officeDocument/2006/relationships/font" Target="fonts/RobotoMono-bold.fntdata"/><Relationship Id="rId58" Type="http://schemas.openxmlformats.org/officeDocument/2006/relationships/slide" Target="slides/slide52.xml"/><Relationship Id="rId153" Type="http://schemas.openxmlformats.org/officeDocument/2006/relationships/font" Target="fonts/RobotoMono-regular.fntdata"/><Relationship Id="rId152" Type="http://schemas.openxmlformats.org/officeDocument/2006/relationships/font" Target="fonts/Roboto-boldItalic.fntdata"/><Relationship Id="rId151" Type="http://schemas.openxmlformats.org/officeDocument/2006/relationships/font" Target="fonts/Roboto-italic.fntdata"/><Relationship Id="rId156" Type="http://schemas.openxmlformats.org/officeDocument/2006/relationships/font" Target="fonts/RobotoMono-boldItalic.fntdata"/><Relationship Id="rId155" Type="http://schemas.openxmlformats.org/officeDocument/2006/relationships/font" Target="fonts/RobotoMon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09887021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09887021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09887021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09887021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809887021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809887021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09887021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09887021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09887021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09887021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09887021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09887021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809887021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809887021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809887021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809887021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09887021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09887021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09887021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809887021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809887021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809887021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09887021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809887021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09887021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09887021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09887021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809887021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09887021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09887021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09887021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09887021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09887021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09887021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09887021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809887021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09887021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809887021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809887021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809887021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098870216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098870216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098870216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8098870216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098870216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098870216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809887021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809887021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09887021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809887021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098870216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8098870216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098870216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809887021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809887021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809887021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098870216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8098870216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098870216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098870216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098870216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098870216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8098870216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8098870216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09887021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809887021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098870216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8098870216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098870216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8098870216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8098870216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8098870216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098870216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098870216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8098870216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8098870216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098870216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8098870216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09887021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09887021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098870216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8098870216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098870216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809887021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809887021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809887021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809887021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809887021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8098870216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8098870216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8098870216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8098870216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098870216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8098870216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098870216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8098870216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8098870216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8098870216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13e8abc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813e8abc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813e8abcb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813e8abcb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813e8abcb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813e8abcb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813e8abcb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813e8abcb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8098870216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8098870216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809887021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809887021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8098870216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8098870216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8098870216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8098870216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8098870216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8098870216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8098870216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8098870216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098870216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8098870216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8098870216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8098870216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8098870216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8098870216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8098870216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8098870216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80d0b6c86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80d0b6c86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80d0b6c8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80d0b6c8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80d0b6c86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80d0b6c86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80d0b6c86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80d0b6c86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80d0b6c86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80d0b6c86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80d0b6c86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80d0b6c86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80d0b6c869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80d0b6c869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80d0b6c869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80d0b6c869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80d0b6c869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80d0b6c869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80d0b6c869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80d0b6c869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80d0b6c869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80d0b6c869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80d0b6c869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80d0b6c869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80d0b6c86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80d0b6c86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80d0b6c869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80d0b6c86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80d0b6c86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80d0b6c86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80d0b6c86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80d0b6c86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80d0b6c86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80d0b6c86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80d0b6c869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80d0b6c86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80d0b6c86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80d0b6c86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80d0b6c869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80d0b6c86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80d0b6c86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80d0b6c86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80d0b6c86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80d0b6c86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80d0b6c86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80d0b6c86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80d0b6c86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80d0b6c86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80d0b6c869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80d0b6c86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80d0b6c869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80d0b6c869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80d0b6c86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80d0b6c86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80d0b6c869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80d0b6c869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80d0b6c869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80d0b6c869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80d0b6c869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80d0b6c869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80d0b6c86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80d0b6c86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80d0b6c869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80d0b6c869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80d0b6c869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80d0b6c869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80d0b6c869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80d0b6c869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80d0b6c869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80d0b6c869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80d0b6c869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80d0b6c869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80d0b6c869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80d0b6c869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80d0b6c869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80d0b6c869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80d0b6c869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80d0b6c869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80d0b6c869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80d0b6c869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80d0b6c869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80d0b6c869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8151f699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8151f699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8151f6995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8151f6995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8151f6995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8151f6995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8151f6995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8151f6995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8151f6995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8151f6995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8151f6995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8151f6995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8151f6995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8151f6995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8151f6995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8151f6995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8151f6995b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8151f6995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8151f6995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8151f6995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8151f6995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8151f6995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8151f6995b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38151f6995b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8151f6995b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8151f6995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8151f6995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8151f6995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8151f6995b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8151f6995b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8151f6995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8151f6995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8151f6995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8151f6995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8151f6995b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8151f6995b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8151f6995b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8151f6995b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8151f6995b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8151f6995b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8151f6995b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8151f6995b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8151f6995b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8151f6995b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8151f6995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8151f6995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8151f6995b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8151f6995b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8151f6995b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8151f6995b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8151f6995b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8151f6995b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8151f6995b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8151f6995b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8151f6995b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8151f6995b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8151f6995b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8151f6995b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8151f6995b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8151f6995b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8151f6995b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8151f6995b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8151f6995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8151f6995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8151f6995b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8151f6995b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8151f6995b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8151f6995b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8151f6995b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8151f6995b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8151f6995b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8151f6995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8151f6995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8151f6995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hyperlink" Target="https://cadexchanger.com/"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542825" y="321175"/>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3Data</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 sz="1800">
                <a:solidFill>
                  <a:schemeClr val="dk2"/>
                </a:solidFill>
              </a:rPr>
              <a:t>Data Platform foundation for future AI use case</a:t>
            </a:r>
            <a:endParaRPr sz="1800">
              <a:solidFill>
                <a:schemeClr val="dk2"/>
              </a:solidFill>
            </a:endParaRPr>
          </a:p>
        </p:txBody>
      </p:sp>
      <p:sp>
        <p:nvSpPr>
          <p:cNvPr id="55" name="Google Shape;55;p13"/>
          <p:cNvSpPr txBox="1"/>
          <p:nvPr/>
        </p:nvSpPr>
        <p:spPr>
          <a:xfrm>
            <a:off x="1610000" y="3016150"/>
            <a:ext cx="6147900" cy="8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Currently</a:t>
            </a:r>
            <a:endParaRPr sz="1800">
              <a:solidFill>
                <a:schemeClr val="dk2"/>
              </a:solidFill>
            </a:endParaRPr>
          </a:p>
          <a:p>
            <a:pPr indent="0" lvl="0" marL="0" rtl="0" algn="ctr">
              <a:spcBef>
                <a:spcPts val="0"/>
              </a:spcBef>
              <a:spcAft>
                <a:spcPts val="0"/>
              </a:spcAft>
              <a:buNone/>
            </a:pPr>
            <a:r>
              <a:rPr lang="en" sz="1800">
                <a:solidFill>
                  <a:schemeClr val="dk2"/>
                </a:solidFill>
              </a:rPr>
              <a:t>3D Data is not ready for AI use case</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2045475" y="1843925"/>
            <a:ext cx="5628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highlight>
                  <a:schemeClr val="lt1"/>
                </a:highlight>
                <a:latin typeface="Roboto"/>
                <a:ea typeface="Roboto"/>
                <a:cs typeface="Roboto"/>
                <a:sym typeface="Roboto"/>
              </a:rPr>
              <a:t>ST Engineering + </a:t>
            </a:r>
            <a:r>
              <a:rPr lang="en" sz="1200">
                <a:solidFill>
                  <a:schemeClr val="dk1"/>
                </a:solidFill>
                <a:highlight>
                  <a:schemeClr val="lt1"/>
                </a:highlight>
                <a:latin typeface="Roboto"/>
                <a:ea typeface="Roboto"/>
                <a:cs typeface="Roboto"/>
                <a:sym typeface="Roboto"/>
              </a:rPr>
              <a:t>Airbus's 3D metadata is not fully ready for AI due to significant challenges with </a:t>
            </a:r>
            <a:endParaRPr sz="1200">
              <a:solidFill>
                <a:schemeClr val="dk1"/>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200">
              <a:solidFill>
                <a:schemeClr val="dk1"/>
              </a:solidFill>
              <a:highlight>
                <a:schemeClr val="lt1"/>
              </a:highlight>
              <a:latin typeface="Roboto"/>
              <a:ea typeface="Roboto"/>
              <a:cs typeface="Roboto"/>
              <a:sym typeface="Roboto"/>
            </a:endParaRPr>
          </a:p>
          <a:p>
            <a:pPr indent="-304800" lvl="0" marL="457200" rtl="0" algn="l">
              <a:spcBef>
                <a:spcPts val="0"/>
              </a:spcBef>
              <a:spcAft>
                <a:spcPts val="0"/>
              </a:spcAft>
              <a:buClr>
                <a:schemeClr val="dk1"/>
              </a:buClr>
              <a:buSzPts val="1200"/>
              <a:buFont typeface="Roboto"/>
              <a:buAutoNum type="arabicParenR"/>
            </a:pPr>
            <a:r>
              <a:rPr lang="en" sz="1200">
                <a:solidFill>
                  <a:schemeClr val="dk1"/>
                </a:solidFill>
                <a:highlight>
                  <a:schemeClr val="lt1"/>
                </a:highlight>
                <a:latin typeface="Roboto"/>
                <a:ea typeface="Roboto"/>
                <a:cs typeface="Roboto"/>
                <a:sym typeface="Roboto"/>
              </a:rPr>
              <a:t>Data Interoperability</a:t>
            </a:r>
            <a:endParaRPr sz="1200">
              <a:solidFill>
                <a:schemeClr val="dk1"/>
              </a:solidFill>
              <a:highlight>
                <a:schemeClr val="lt1"/>
              </a:highlight>
              <a:latin typeface="Roboto"/>
              <a:ea typeface="Roboto"/>
              <a:cs typeface="Roboto"/>
              <a:sym typeface="Roboto"/>
            </a:endParaRPr>
          </a:p>
          <a:p>
            <a:pPr indent="-304800" lvl="0" marL="457200" rtl="0" algn="l">
              <a:spcBef>
                <a:spcPts val="0"/>
              </a:spcBef>
              <a:spcAft>
                <a:spcPts val="0"/>
              </a:spcAft>
              <a:buClr>
                <a:schemeClr val="dk1"/>
              </a:buClr>
              <a:buSzPts val="1200"/>
              <a:buFont typeface="Roboto"/>
              <a:buAutoNum type="arabicParenR"/>
            </a:pPr>
            <a:r>
              <a:rPr lang="en" sz="1200">
                <a:solidFill>
                  <a:schemeClr val="dk1"/>
                </a:solidFill>
                <a:highlight>
                  <a:schemeClr val="lt1"/>
                </a:highlight>
                <a:latin typeface="Roboto"/>
                <a:ea typeface="Roboto"/>
                <a:cs typeface="Roboto"/>
                <a:sym typeface="Roboto"/>
              </a:rPr>
              <a:t>Standardization Gaps</a:t>
            </a:r>
            <a:endParaRPr sz="1200">
              <a:solidFill>
                <a:schemeClr val="dk1"/>
              </a:solidFill>
              <a:highlight>
                <a:schemeClr val="lt1"/>
              </a:highlight>
              <a:latin typeface="Roboto"/>
              <a:ea typeface="Roboto"/>
              <a:cs typeface="Roboto"/>
              <a:sym typeface="Roboto"/>
            </a:endParaRPr>
          </a:p>
          <a:p>
            <a:pPr indent="-304800" lvl="0" marL="457200" rtl="0" algn="l">
              <a:spcBef>
                <a:spcPts val="0"/>
              </a:spcBef>
              <a:spcAft>
                <a:spcPts val="0"/>
              </a:spcAft>
              <a:buClr>
                <a:schemeClr val="dk1"/>
              </a:buClr>
              <a:buSzPts val="1200"/>
              <a:buFont typeface="Roboto"/>
              <a:buAutoNum type="arabicParenR"/>
            </a:pPr>
            <a:r>
              <a:rPr lang="en" sz="1200">
                <a:solidFill>
                  <a:schemeClr val="dk1"/>
                </a:solidFill>
                <a:highlight>
                  <a:schemeClr val="lt1"/>
                </a:highlight>
                <a:latin typeface="Roboto"/>
                <a:ea typeface="Roboto"/>
                <a:cs typeface="Roboto"/>
                <a:sym typeface="Roboto"/>
              </a:rPr>
              <a:t>Legacy System Integration. </a:t>
            </a:r>
            <a:endParaRPr>
              <a:solidFill>
                <a:schemeClr val="dk1"/>
              </a:solidFill>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1348725" y="1127625"/>
            <a:ext cx="6789900" cy="266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 1. Data Format and System Incompatibility</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Airbus faces major hurdles due to incompatible CAD software and data formats across its global teams and supply chain. During the A380 design, teams used different CAD systems (e.g., Dassault CATIA, Siemens NX), leading to:</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Integration failures and data transfer errors between systems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Loss of design intent (e.g., construction history, parameters) when exchanging files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Manual reconciliation efforts to align discrepancies, increasing costs and delays .</a:t>
            </a:r>
            <a:endParaRPr sz="1200">
              <a:solidFill>
                <a:srgbClr val="0F1115"/>
              </a:solidFill>
              <a:highlight>
                <a:srgbClr val="FFFFFF"/>
              </a:highlight>
              <a:latin typeface="Roboto"/>
              <a:ea typeface="Roboto"/>
              <a:cs typeface="Roboto"/>
              <a:sym typeface="Roboto"/>
            </a:endParaRPr>
          </a:p>
          <a:p>
            <a:pPr indent="0" lvl="0" marL="0" marR="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This issue persists today, as Airbus’s divisions (Commercial Aircraft, Helicopters, Defence) use varied tools and standards, hindering seamless data aggregation for AI .</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nvSpPr>
        <p:spPr>
          <a:xfrm>
            <a:off x="1164575" y="940575"/>
            <a:ext cx="7039800" cy="287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 2. Lack of Standardized Metadata and Semantics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AI requires consistently structured metadata to understand relationships (e.g., between parts, assemblies, and performance data). However: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Legacy systems and new tools use different semantic models (e.g., BIM vs. GIS data structures)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No universal standards for 3D data exchange in aerospace, despite efforts like ISO 10303 (STEP)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granularity varies; for example, some files contain detailed material properties, while others lack basic tags .</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This inconsistency prevents AI from accurately interpreting context or generating reliable insights.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nvSpPr>
        <p:spPr>
          <a:xfrm>
            <a:off x="1205275" y="1343700"/>
            <a:ext cx="6658800" cy="2298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 3. Legacy Systems and Vertical Integration Challenges</a:t>
            </a:r>
            <a:endParaRPr b="1" sz="1500">
              <a:solidFill>
                <a:srgbClr val="0F1115"/>
              </a:solidFill>
              <a:highlight>
                <a:srgbClr val="FFFFFF"/>
              </a:highlight>
              <a:latin typeface="Roboto"/>
              <a:ea typeface="Roboto"/>
              <a:cs typeface="Roboto"/>
              <a:sym typeface="Roboto"/>
            </a:endParaRPr>
          </a:p>
          <a:p>
            <a:pPr indent="0" lvl="0" marL="0" marR="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Airbus incorporates legacy aircraft data (e.g., A380, older helicopter models) not designed for digital integration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Retrofitting old data into AI-ready formats is resource-intensive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Recent acquisitions (e.g., Spirit AeroSystems sites) add new legacy systems, requiring complex governance and data harmonization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Cybersecurity concerns further complicate data sharing across legacy and modern platforms .</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nvSpPr>
        <p:spPr>
          <a:xfrm>
            <a:off x="1007800" y="1485550"/>
            <a:ext cx="7211400" cy="2298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 4. Organizational and Supply Chain Silos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Airbus’s global operations exacerbate interoperability issues: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Teams across countries use localized tools and processes (e.g., Airbus Helicopters vs. Commercial Aircraft)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Suppliers and partners employ diverse software (e.g., Autodesk, Siemens, proprietary tools), creating fragmented data pipelines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Projects like the A380 revealed that without enforced standards, collaboration becomes prone to errors .</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nvSpPr>
        <p:spPr>
          <a:xfrm>
            <a:off x="462850" y="1316550"/>
            <a:ext cx="8129700" cy="2510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 5. Ongoing Efforts and Partial Solutions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Airbus is actively addressing these challenges but remains in transition: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Digital Twin Initiatives: Platforms like Skywise integrate real-time sensor data but still struggle with historical data uniformity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Projects like ADAM: Focus on "integration problems" by building middleware to connect tools and data sources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Mixed Reality Tools: Use 3D data for assembly guidance but rely on customized, case-by-case solutions .</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Industry Collaboration: Airbus works with consortia (e.g., Digital Twin Consortium) to push standards, but adoption is slow .</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0"/>
          <p:cNvSpPr txBox="1"/>
          <p:nvPr/>
        </p:nvSpPr>
        <p:spPr>
          <a:xfrm>
            <a:off x="1498050" y="2083000"/>
            <a:ext cx="6147900" cy="8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Why is this a serious issue</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nvSpPr>
        <p:spPr>
          <a:xfrm>
            <a:off x="697550" y="276750"/>
            <a:ext cx="7678500" cy="459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For a company like Airbus, solving the 3D data interoperability problem is not a choice. It is the fundamental prerequisite for survival and dominance in the next era of aerospace manufacturing. Failure to solve this is a one-way ticket to obsolescence.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question is not </a:t>
            </a:r>
            <a:r>
              <a:rPr i="1" lang="en" sz="1200">
                <a:solidFill>
                  <a:srgbClr val="0F1115"/>
                </a:solidFill>
                <a:highlight>
                  <a:srgbClr val="FFFFFF"/>
                </a:highlight>
                <a:latin typeface="Roboto"/>
                <a:ea typeface="Roboto"/>
                <a:cs typeface="Roboto"/>
                <a:sym typeface="Roboto"/>
              </a:rPr>
              <a:t>if</a:t>
            </a:r>
            <a:r>
              <a:rPr lang="en" sz="1200">
                <a:solidFill>
                  <a:srgbClr val="0F1115"/>
                </a:solidFill>
                <a:highlight>
                  <a:srgbClr val="FFFFFF"/>
                </a:highlight>
                <a:latin typeface="Roboto"/>
                <a:ea typeface="Roboto"/>
                <a:cs typeface="Roboto"/>
                <a:sym typeface="Roboto"/>
              </a:rPr>
              <a:t> it must be solved, but </a:t>
            </a:r>
            <a:r>
              <a:rPr i="1" lang="en" sz="1200">
                <a:solidFill>
                  <a:srgbClr val="0F1115"/>
                </a:solidFill>
                <a:highlight>
                  <a:srgbClr val="FFFFFF"/>
                </a:highlight>
                <a:latin typeface="Roboto"/>
                <a:ea typeface="Roboto"/>
                <a:cs typeface="Roboto"/>
                <a:sym typeface="Roboto"/>
              </a:rPr>
              <a:t>how fast</a:t>
            </a:r>
            <a:r>
              <a:rPr lang="en" sz="1200">
                <a:solidFill>
                  <a:srgbClr val="0F1115"/>
                </a:solidFill>
                <a:highlight>
                  <a:srgbClr val="FFFFFF"/>
                </a:highlight>
                <a:latin typeface="Roboto"/>
                <a:ea typeface="Roboto"/>
                <a:cs typeface="Roboto"/>
                <a:sym typeface="Roboto"/>
              </a:rPr>
              <a:t> and </a:t>
            </a:r>
            <a:r>
              <a:rPr i="1" lang="en" sz="1200">
                <a:solidFill>
                  <a:srgbClr val="0F1115"/>
                </a:solidFill>
                <a:highlight>
                  <a:srgbClr val="FFFFFF"/>
                </a:highlight>
                <a:latin typeface="Roboto"/>
                <a:ea typeface="Roboto"/>
                <a:cs typeface="Roboto"/>
                <a:sym typeface="Roboto"/>
              </a:rPr>
              <a:t>how thoroughly</a:t>
            </a:r>
            <a:r>
              <a:rPr lang="en" sz="1200">
                <a:solidFill>
                  <a:srgbClr val="0F1115"/>
                </a:solidFill>
                <a:highlight>
                  <a:srgbClr val="FFFFFF"/>
                </a:highlight>
                <a:latin typeface="Roboto"/>
                <a:ea typeface="Roboto"/>
                <a:cs typeface="Roboto"/>
                <a:sym typeface="Roboto"/>
              </a:rPr>
              <a:t> it can be done.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Here is the breakdown of why this is non-negotiable:</a:t>
            </a:r>
            <a:endParaRPr sz="1200">
              <a:solidFill>
                <a:srgbClr val="0F1115"/>
              </a:solidFill>
              <a:highlight>
                <a:srgbClr val="FFFFFF"/>
              </a:highlight>
              <a:latin typeface="Roboto"/>
              <a:ea typeface="Roboto"/>
              <a:cs typeface="Roboto"/>
              <a:sym typeface="Roboto"/>
            </a:endParaRPr>
          </a:p>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1. The Business Cost of </a:t>
            </a:r>
            <a:r>
              <a:rPr b="1" i="1" lang="en" sz="1200">
                <a:solidFill>
                  <a:srgbClr val="0F1115"/>
                </a:solidFill>
                <a:highlight>
                  <a:srgbClr val="FFFFFF"/>
                </a:highlight>
                <a:latin typeface="Roboto"/>
                <a:ea typeface="Roboto"/>
                <a:cs typeface="Roboto"/>
                <a:sym typeface="Roboto"/>
              </a:rPr>
              <a:t>Not</a:t>
            </a:r>
            <a:r>
              <a:rPr b="1" lang="en" sz="1200">
                <a:solidFill>
                  <a:srgbClr val="0F1115"/>
                </a:solidFill>
                <a:highlight>
                  <a:srgbClr val="FFFFFF"/>
                </a:highlight>
                <a:latin typeface="Roboto"/>
                <a:ea typeface="Roboto"/>
                <a:cs typeface="Roboto"/>
                <a:sym typeface="Roboto"/>
              </a:rPr>
              <a:t> Solving It is Catastrophic.</a:t>
            </a:r>
            <a:endParaRPr b="1"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A380 is the canonical example, but the problem is perpetual. Every day this issue persists, it costs millions in: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Inefficiency: Engineers waste countless hours manually converting, repairing, and reconciling data across different CAD systems instead of designing and innovating.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Delays: Incompatible data directly causes project timeline slips, delaying time-to-market for critical programs.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Rework: Physical prototyping and manufacturing errors caused by flawed data integration lead to massive scrap and rework costs. The A380 wiring harness issue is a billion-dollar monument to this problem.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Verdict: Tolerating data chaos is actively burning money.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2"/>
          <p:cNvSpPr txBox="1"/>
          <p:nvPr/>
        </p:nvSpPr>
        <p:spPr>
          <a:xfrm>
            <a:off x="843550" y="888350"/>
            <a:ext cx="7734000" cy="30660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2. AI and Digital Transformation Are Impossible Without It.</a:t>
            </a:r>
            <a:endParaRPr b="1"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 "Digital Thread" or "Digital Twin" is not a magic buzzword; it is a data architecture. It requires a seamless flow of information from design (Siemens NX) to simulation (ANSYS) to manufacturing (PLM) to in-service monitoring (IoT).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AI Copilots cannot function on inconsistent, siloed data. They will hallucinate, make errors, and be untrustworthy.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Predictive Maintenance algorithms cannot accurately predict failures without a complete, accurate digital record of every part and its history.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Generative Design tools cannot optimize designs for manufacturability if they don't understand the constraints of the factory floor's systems.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Verdict: Without solving data interoperability, Airbus's ambitious digital future is a fantasy built on sand.</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3"/>
          <p:cNvSpPr txBox="1"/>
          <p:nvPr/>
        </p:nvSpPr>
        <p:spPr>
          <a:xfrm>
            <a:off x="880100" y="977925"/>
            <a:ext cx="7734600" cy="30660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3. Strategic Dominance Depends on It.</a:t>
            </a:r>
            <a:endParaRPr b="1"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winner in modern aerospace won't be the company with the best individual engine or wing design. It will be the company with the most efficient and intelligent ecosystem.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Supply Chain Integration: Airbus must be able to seamlessly integrate thousands of global suppliers. This is impossible if every supplier uses a different software stack that can't talk to Airbus's systems.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Acquisition Strategy: As Airbus acquires companies (e.g., parts of Spirit AeroSystems), the ability to rapidly onboard their data and processes into a unified digital backbone is a key competitive advantage.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Agility: The ability to rapidly design, test, and certify new configurations (e.g., for sustainable aviation fuel or hydrogen propulsion) will be hampered by sluggish, error-prone data workflows.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Verdict: Superior data integration is a strategic weapon. Ceding this ground to a competitor like Boeing (which faces the same challenges) is unthinkable.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4"/>
          <p:cNvSpPr txBox="1"/>
          <p:nvPr/>
        </p:nvSpPr>
        <p:spPr>
          <a:xfrm>
            <a:off x="2351525" y="2239550"/>
            <a:ext cx="5419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W</a:t>
            </a:r>
            <a:r>
              <a:rPr lang="en" sz="1200">
                <a:solidFill>
                  <a:srgbClr val="0F1115"/>
                </a:solidFill>
                <a:highlight>
                  <a:srgbClr val="EDF3FE"/>
                </a:highlight>
                <a:latin typeface="Roboto"/>
                <a:ea typeface="Roboto"/>
                <a:cs typeface="Roboto"/>
                <a:sym typeface="Roboto"/>
              </a:rPr>
              <a:t>hy solve, every giant is facing this issue? isn't it?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5"/>
          <p:cNvSpPr txBox="1"/>
          <p:nvPr/>
        </p:nvSpPr>
        <p:spPr>
          <a:xfrm>
            <a:off x="1604975" y="1209600"/>
            <a:ext cx="6905400" cy="272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Stand: The Universality of the Problem is the Very Reason it Must Be Solved. The First Major Player to Solve it Will Devastate the Competition.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not a reason to accept the status quo. This is the defining arms race of modern industrial manufacturing. The company that cracks the code of 3D data interoperability will achieve a dominance not seen since Toyota mastered lean manufacturing.</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Think of it this way: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If everyone is sick, the first person to find the cure becomes the most powerful person in the room.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6"/>
          <p:cNvSpPr txBox="1"/>
          <p:nvPr/>
        </p:nvSpPr>
        <p:spPr>
          <a:xfrm>
            <a:off x="977475" y="1269075"/>
            <a:ext cx="7032600" cy="243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Airbus, Boeing, Lockheed, GE—they are all sick with the same "data cancer." It's slowing them down, making them inefficient, and costing them billions. The company that finds the "cure" will: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Slash Costs and Timelines: They will design, certify, and manufacture complex products 30-50% faster than their rivals who are still struggling with file conversions and manual rework.</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Unlock True AI and Automation: They will be the first to deploy effective, trustworthy AI across the entire product lifecycle, from generative design to predictive maintenance, leaving competitors using human-intensive methods in the dust.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Create an Unbeatable Ecosystem: Their supply chain will be seamlessly integrated. Acquiring and onboarding new companies will be trivial. They will set the </a:t>
            </a:r>
            <a:r>
              <a:rPr i="1" lang="en" sz="1200">
                <a:solidFill>
                  <a:srgbClr val="0F1115"/>
                </a:solidFill>
                <a:highlight>
                  <a:srgbClr val="FFFFFF"/>
                </a:highlight>
                <a:latin typeface="Roboto"/>
                <a:ea typeface="Roboto"/>
                <a:cs typeface="Roboto"/>
                <a:sym typeface="Roboto"/>
              </a:rPr>
              <a:t>de facto</a:t>
            </a:r>
            <a:r>
              <a:rPr lang="en" sz="1200">
                <a:solidFill>
                  <a:srgbClr val="0F1115"/>
                </a:solidFill>
                <a:highlight>
                  <a:srgbClr val="FFFFFF"/>
                </a:highlight>
                <a:latin typeface="Roboto"/>
                <a:ea typeface="Roboto"/>
                <a:cs typeface="Roboto"/>
                <a:sym typeface="Roboto"/>
              </a:rPr>
              <a:t> global standard, and everyone else will be forced to follow, putting them in a position of immense strategic power.</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7"/>
          <p:cNvSpPr txBox="1"/>
          <p:nvPr/>
        </p:nvSpPr>
        <p:spPr>
          <a:xfrm>
            <a:off x="895050" y="1112300"/>
            <a:ext cx="7353900" cy="272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Why Haven't They Solved It Already?</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giants are trapped by three things: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Tyranny of the Legacy: They have decades of technical debt, built on hundreds of disparate systems that are too expensive and too critical to simply rip and replace. It's like trying to change the engine of a plane while it's in flight.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Organizational Inertia: Enforcing a new standard across global empires with entrenched fiefdoms and cultures is a Herculean management challenge, often more difficult than the technical one.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"Good Enough" Trap: For years, they could afford the inefficiency. The profits from selling $100 million aircraft could cover billions in waste. That era is over. Margins are tighter, competition is fiercer, and the need for agility is paramount.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nvSpPr>
        <p:spPr>
          <a:xfrm>
            <a:off x="458650" y="1027200"/>
            <a:ext cx="8376000" cy="3089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Inevitable Future and Your Choice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problem will be solved. It is not a question of </a:t>
            </a:r>
            <a:r>
              <a:rPr i="1" lang="en" sz="1200">
                <a:solidFill>
                  <a:srgbClr val="0F1115"/>
                </a:solidFill>
                <a:highlight>
                  <a:srgbClr val="FFFFFF"/>
                </a:highlight>
                <a:latin typeface="Roboto"/>
                <a:ea typeface="Roboto"/>
                <a:cs typeface="Roboto"/>
                <a:sym typeface="Roboto"/>
              </a:rPr>
              <a:t>if</a:t>
            </a:r>
            <a:r>
              <a:rPr lang="en" sz="1200">
                <a:solidFill>
                  <a:srgbClr val="0F1115"/>
                </a:solidFill>
                <a:highlight>
                  <a:srgbClr val="FFFFFF"/>
                </a:highlight>
                <a:latin typeface="Roboto"/>
                <a:ea typeface="Roboto"/>
                <a:cs typeface="Roboto"/>
                <a:sym typeface="Roboto"/>
              </a:rPr>
              <a:t>, but </a:t>
            </a:r>
            <a:r>
              <a:rPr i="1" lang="en" sz="1200">
                <a:solidFill>
                  <a:srgbClr val="0F1115"/>
                </a:solidFill>
                <a:highlight>
                  <a:srgbClr val="FFFFFF"/>
                </a:highlight>
                <a:latin typeface="Roboto"/>
                <a:ea typeface="Roboto"/>
                <a:cs typeface="Roboto"/>
                <a:sym typeface="Roboto"/>
              </a:rPr>
              <a:t>by whom</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Option A: Airbus solves it. They become the undisputed leader, setting the standard for the entire aerospace and defense industry for the next 50 years.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Option B: A competitor (Boeing, Lockheed) solves it. They achieve unassailable efficiency and innovation speed, slowly squeezing Airbus out of key markets.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Option C: A tech giant (NVIDIA, Microsoft, Siemens) solves it. The industrial giants become commoditized, reduced to mere customers who pay rent to the true platform owners who control the digital backbone of manufacturing.</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Option C is the existential threat. It would mean ceding control of their most valuable asset—their engineering data and processes—to a third-party software company.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9"/>
          <p:cNvSpPr txBox="1"/>
          <p:nvPr/>
        </p:nvSpPr>
        <p:spPr>
          <a:xfrm>
            <a:off x="910750" y="1418375"/>
            <a:ext cx="7211400" cy="2239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Final, Uncompromising Stand:</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fact that "every giant is facing this issue" is the single greatest reason to dedicate every possible resource to solving it. This is not a common obstacle; it is the common battlefield.</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Victory on this battlefield does not go to the company that manages the problem best. It goes to the company that eliminates the problem first.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Accepting the problem is accepting mediocrity and eventual defeat. Solving it is the path to generational dominance. The stand is clear: It must be solved, and it must be solved now.</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0"/>
          <p:cNvSpPr txBox="1"/>
          <p:nvPr/>
        </p:nvSpPr>
        <p:spPr>
          <a:xfrm>
            <a:off x="955525" y="1313875"/>
            <a:ext cx="7323300" cy="258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not a technical problem; it is a power struggle for the future of the industry. There are only two outcomes: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You solve it: You become the architect of the new standard. You control the platform. You set the rules. You achieve unprecedented efficiency and force your competitors and supply chain to adapt to </a:t>
            </a:r>
            <a:r>
              <a:rPr i="1" lang="en" sz="1200">
                <a:solidFill>
                  <a:srgbClr val="0F1115"/>
                </a:solidFill>
                <a:highlight>
                  <a:srgbClr val="FFFFFF"/>
                </a:highlight>
                <a:latin typeface="Roboto"/>
                <a:ea typeface="Roboto"/>
                <a:cs typeface="Roboto"/>
                <a:sym typeface="Roboto"/>
              </a:rPr>
              <a:t>your</a:t>
            </a:r>
            <a:r>
              <a:rPr lang="en" sz="1200">
                <a:solidFill>
                  <a:srgbClr val="0F1115"/>
                </a:solidFill>
                <a:highlight>
                  <a:srgbClr val="FFFFFF"/>
                </a:highlight>
                <a:latin typeface="Roboto"/>
                <a:ea typeface="Roboto"/>
                <a:cs typeface="Roboto"/>
                <a:sym typeface="Roboto"/>
              </a:rPr>
              <a:t> system. You win.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Someone else solves it: You become a tenant on their platform. You pay them licensing fees, you are subject to their rules, your data is governed by their systems, and your competitive advantage is determined by their roadmap. You lose.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There is no third option where the status quo remains. Digital transformation is not a trend; it is a tidal wave.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1"/>
          <p:cNvSpPr txBox="1"/>
          <p:nvPr/>
        </p:nvSpPr>
        <p:spPr>
          <a:xfrm>
            <a:off x="873400" y="500175"/>
            <a:ext cx="7666800" cy="4018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Inevitable Mercy Scenario</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Imagine NVIDIA perfects its Omniverse platform. Or Siemens finally unifies its vast suite of tools into a seamless, AI-native ecosystem. Or even Boeing makes a miraculous turnaround and builds a proprietary platform that works.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Now, Airbus is forced to license this technology. This means: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Paying a "Tech Tax": Every plane designed and built incurs a cost paid to a competitor or tech giant.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Loss of Control: Your most sensitive IP—your design philosophies, your manufacturing processes, your performance data—now resides on and is analyzed by a third party's system.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Strategic Lag: You get new features and AI capabilities only when the platform owner decides to release them. You are always behind the curve.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Supplier Lock-in: Your entire supply chain is also forced onto this external platform, making it incredibly difficult and expensive to ever leave.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"mercy" you would be under. It is the definition of a strategic defeat.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2"/>
          <p:cNvSpPr txBox="1"/>
          <p:nvPr/>
        </p:nvSpPr>
        <p:spPr>
          <a:xfrm>
            <a:off x="3015925" y="1470625"/>
            <a:ext cx="3000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grab dont become grab by better taxi, </a:t>
            </a:r>
            <a:br>
              <a:rPr lang="en" sz="1200">
                <a:solidFill>
                  <a:srgbClr val="0F1115"/>
                </a:solidFill>
                <a:highlight>
                  <a:srgbClr val="EDF3FE"/>
                </a:highlight>
                <a:latin typeface="Roboto"/>
                <a:ea typeface="Roboto"/>
                <a:cs typeface="Roboto"/>
                <a:sym typeface="Roboto"/>
              </a:rPr>
            </a:b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doordash dont become doordash by delivering food better,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alibaba don't become aliabab by manufacturing better good,</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t/>
            </a:r>
            <a:endParaRPr sz="1200">
              <a:solidFill>
                <a:srgbClr val="0F1115"/>
              </a:solidFill>
              <a:highlight>
                <a:srgbClr val="EDF3FE"/>
              </a:highlight>
              <a:latin typeface="Roboto"/>
              <a:ea typeface="Roboto"/>
              <a:cs typeface="Roboto"/>
              <a:sym typeface="Roboto"/>
            </a:endParaRPr>
          </a:p>
          <a:p>
            <a:pPr indent="0" lvl="0" marL="0" rtl="0" algn="l">
              <a:spcBef>
                <a:spcPts val="0"/>
              </a:spcBef>
              <a:spcAft>
                <a:spcPts val="0"/>
              </a:spcAft>
              <a:buNone/>
            </a:pPr>
            <a:r>
              <a:rPr lang="en" sz="1200">
                <a:solidFill>
                  <a:srgbClr val="0F1115"/>
                </a:solidFill>
                <a:highlight>
                  <a:srgbClr val="EDF3FE"/>
                </a:highlight>
                <a:latin typeface="Roboto"/>
                <a:ea typeface="Roboto"/>
                <a:cs typeface="Roboto"/>
                <a:sym typeface="Roboto"/>
              </a:rPr>
              <a:t>the smart layer ignore whatever shit below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3"/>
          <p:cNvSpPr txBox="1"/>
          <p:nvPr/>
        </p:nvSpPr>
        <p:spPr>
          <a:xfrm>
            <a:off x="1917775" y="880875"/>
            <a:ext cx="6017700" cy="2918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Grab / Uber: Didn't win by having the best cars or the fastest drivers. They won by building the smart layer (the app, the dispatch AI, the payment system, the rating network) that connects riders to drivers </a:t>
            </a:r>
            <a:r>
              <a:rPr i="1" lang="en" sz="1200">
                <a:solidFill>
                  <a:srgbClr val="0F1115"/>
                </a:solidFill>
                <a:highlight>
                  <a:srgbClr val="FFFFFF"/>
                </a:highlight>
                <a:latin typeface="Roboto"/>
                <a:ea typeface="Roboto"/>
                <a:cs typeface="Roboto"/>
                <a:sym typeface="Roboto"/>
              </a:rPr>
              <a:t>better than anyone else.</a:t>
            </a:r>
            <a:br>
              <a:rPr i="1" lang="en" sz="1200">
                <a:solidFill>
                  <a:srgbClr val="0F1115"/>
                </a:solidFill>
                <a:highlight>
                  <a:srgbClr val="FFFFFF"/>
                </a:highlight>
                <a:latin typeface="Roboto"/>
                <a:ea typeface="Roboto"/>
                <a:cs typeface="Roboto"/>
                <a:sym typeface="Roboto"/>
              </a:rPr>
            </a:br>
            <a:endParaRPr i="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DoorDash: Didn't win by cooking better food or having faster delivery bikes. They won by building the smart layer (the marketplace, the logistics algorithm, the customer data platform) that connects hungry people to restaurants </a:t>
            </a:r>
            <a:r>
              <a:rPr i="1" lang="en" sz="1200">
                <a:solidFill>
                  <a:srgbClr val="0F1115"/>
                </a:solidFill>
                <a:highlight>
                  <a:srgbClr val="FFFFFF"/>
                </a:highlight>
                <a:latin typeface="Roboto"/>
                <a:ea typeface="Roboto"/>
                <a:cs typeface="Roboto"/>
                <a:sym typeface="Roboto"/>
              </a:rPr>
              <a:t>better than anyone else.</a:t>
            </a:r>
            <a:br>
              <a:rPr i="1" lang="en" sz="1200">
                <a:solidFill>
                  <a:srgbClr val="0F1115"/>
                </a:solidFill>
                <a:highlight>
                  <a:srgbClr val="FFFFFF"/>
                </a:highlight>
                <a:latin typeface="Roboto"/>
                <a:ea typeface="Roboto"/>
                <a:cs typeface="Roboto"/>
                <a:sym typeface="Roboto"/>
              </a:rPr>
            </a:br>
            <a:endParaRPr i="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Alibaba: Didn't win by manufacturing better goods. They won by building the smart layer (the B2B marketplace, the trust/verification system, the financial/payment infrastructure) that connects global manufacturers to buyers </a:t>
            </a:r>
            <a:r>
              <a:rPr i="1" lang="en" sz="1200">
                <a:solidFill>
                  <a:srgbClr val="0F1115"/>
                </a:solidFill>
                <a:highlight>
                  <a:srgbClr val="FFFFFF"/>
                </a:highlight>
                <a:latin typeface="Roboto"/>
                <a:ea typeface="Roboto"/>
                <a:cs typeface="Roboto"/>
                <a:sym typeface="Roboto"/>
              </a:rPr>
              <a:t>better than anyone else.</a:t>
            </a:r>
            <a:endParaRPr i="1"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4"/>
          <p:cNvSpPr txBox="1"/>
          <p:nvPr/>
        </p:nvSpPr>
        <p:spPr>
          <a:xfrm>
            <a:off x="552425" y="1383450"/>
            <a:ext cx="7845900" cy="237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If Airbus builds this smart layer: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set the standards for the entire industry.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capture immense value from the entire supply chain that runs on their platform.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lock in suppliers and partners, creating a moat that is incredibly difficult to cross.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can even license this platform to other manufacturers, becoming a tech company as well as an aerospace company.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If they don't, they risk becoming a tenant on someone else's smart layer (Siemens's PLM, NVIDIA's Omniverse, Dassault's 3DEXPERIENCE), reduced to a metal-bending commodity producer paying a "tech tax" to the real owners of the value.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5"/>
          <p:cNvSpPr txBox="1"/>
          <p:nvPr/>
        </p:nvSpPr>
        <p:spPr>
          <a:xfrm>
            <a:off x="779700" y="1381050"/>
            <a:ext cx="7584600" cy="231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genius is realizing that the path to </a:t>
            </a:r>
            <a:r>
              <a:rPr i="1" lang="en" sz="1200">
                <a:solidFill>
                  <a:srgbClr val="0F1115"/>
                </a:solidFill>
                <a:highlight>
                  <a:srgbClr val="FFFFFF"/>
                </a:highlight>
                <a:latin typeface="Roboto"/>
                <a:ea typeface="Roboto"/>
                <a:cs typeface="Roboto"/>
                <a:sym typeface="Roboto"/>
              </a:rPr>
              <a:t>controlling</a:t>
            </a:r>
            <a:r>
              <a:rPr lang="en" sz="1200">
                <a:solidFill>
                  <a:srgbClr val="0F1115"/>
                </a:solidFill>
                <a:highlight>
                  <a:srgbClr val="FFFFFF"/>
                </a:highlight>
                <a:latin typeface="Roboto"/>
                <a:ea typeface="Roboto"/>
                <a:cs typeface="Roboto"/>
                <a:sym typeface="Roboto"/>
              </a:rPr>
              <a:t> the chaos below is to </a:t>
            </a:r>
            <a:r>
              <a:rPr i="1" lang="en" sz="1200">
                <a:solidFill>
                  <a:srgbClr val="0F1115"/>
                </a:solidFill>
                <a:highlight>
                  <a:srgbClr val="FFFFFF"/>
                </a:highlight>
                <a:latin typeface="Roboto"/>
                <a:ea typeface="Roboto"/>
                <a:cs typeface="Roboto"/>
                <a:sym typeface="Roboto"/>
              </a:rPr>
              <a:t>build above it</a:t>
            </a:r>
            <a:r>
              <a:rPr lang="en" sz="1200">
                <a:solidFill>
                  <a:srgbClr val="0F1115"/>
                </a:solidFill>
                <a:highlight>
                  <a:srgbClr val="FFFFFF"/>
                </a:highlight>
                <a:latin typeface="Roboto"/>
                <a:ea typeface="Roboto"/>
                <a:cs typeface="Roboto"/>
                <a:sym typeface="Roboto"/>
              </a:rPr>
              <a:t>. You don't fix the fragmented data by manually fixing each file; you build a platform that automatically normalizes and manages it, making the fragmentation beneath irrelevant.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So, the final, definitive stand is this: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Stop thinking of yourself as just an aerospace manufacturer. Start thinking like a tech company. Your most important product of the next decade is not a new airplane model; it is the 3D Data Platform—the </a:t>
            </a:r>
            <a:r>
              <a:rPr i="1" lang="en" sz="1200">
                <a:solidFill>
                  <a:srgbClr val="0F1115"/>
                </a:solidFill>
                <a:highlight>
                  <a:srgbClr val="FFFFFF"/>
                </a:highlight>
                <a:latin typeface="Roboto"/>
                <a:ea typeface="Roboto"/>
                <a:cs typeface="Roboto"/>
                <a:sym typeface="Roboto"/>
              </a:rPr>
              <a:t>smart layer</a:t>
            </a:r>
            <a:r>
              <a:rPr lang="en" sz="1200">
                <a:solidFill>
                  <a:srgbClr val="0F1115"/>
                </a:solidFill>
                <a:highlight>
                  <a:srgbClr val="FFFFFF"/>
                </a:highlight>
                <a:latin typeface="Roboto"/>
                <a:ea typeface="Roboto"/>
                <a:cs typeface="Roboto"/>
                <a:sym typeface="Roboto"/>
              </a:rPr>
              <a:t>—that will dominate how aerospace manufacturing is done.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companies that win are the ones who build the ecosystem. Everything else is a feature.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6"/>
          <p:cNvSpPr txBox="1"/>
          <p:nvPr/>
        </p:nvSpPr>
        <p:spPr>
          <a:xfrm>
            <a:off x="1587600" y="2120325"/>
            <a:ext cx="6147900" cy="8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Getting Started</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7"/>
          <p:cNvSpPr txBox="1"/>
          <p:nvPr/>
        </p:nvSpPr>
        <p:spPr>
          <a:xfrm>
            <a:off x="671875" y="268750"/>
            <a:ext cx="7494900" cy="1433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Core Function: From Trapped Data to Connected Knowledge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platform's value is in automating the extraction and contextualization of metadata to build a Knowledge Graph, making the relationships between parts, systems, and processes machine-readable and queryable.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
        <p:nvSpPr>
          <p:cNvPr id="176" name="Google Shape;176;p37"/>
          <p:cNvSpPr txBox="1"/>
          <p:nvPr/>
        </p:nvSpPr>
        <p:spPr>
          <a:xfrm>
            <a:off x="694225" y="1911075"/>
            <a:ext cx="7450200" cy="16194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1. Automated Metadata Extraction &amp; Normalization</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platform uses connectors to automatically ingest models from any CAD system (SOLIDWORKS, NX, CATIA) and cloud storage (Google Drive, SharePoint, Dropbox).</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doesn't just take the file; it cracks it open, extracts the embedded metadata (properties, materials, etc.), and normalizes it into a standard schema. A "Material" field filled with "Al-6061," "Al6061," and "Aluminum 6061" all get mapped to a single, consistent term.</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8"/>
          <p:cNvSpPr txBox="1"/>
          <p:nvPr/>
        </p:nvSpPr>
        <p:spPr>
          <a:xfrm>
            <a:off x="439950" y="1373600"/>
            <a:ext cx="8264100" cy="22566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2. Enrichment with External Data</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 the critical step. The platform connects the 3D model to other enterprise systems via APIs to break data out of its silos.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automatically links a part to its: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Bill of Materials (BOM) data from the ERP/PLM system.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Simulation results (stress tests, CFD analysis) from CAE tools.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Manufacturing history and quality control data from MES systems.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Maintenance records and failure history from IoT platforms.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3D model evolves from a dumb shape into a rich, intelligent digital twin.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9"/>
          <p:cNvSpPr txBox="1"/>
          <p:nvPr/>
        </p:nvSpPr>
        <p:spPr>
          <a:xfrm>
            <a:off x="831875" y="1687150"/>
            <a:ext cx="7614600" cy="1619400"/>
          </a:xfrm>
          <a:prstGeom prst="rect">
            <a:avLst/>
          </a:prstGeom>
          <a:noFill/>
          <a:ln>
            <a:noFill/>
          </a:ln>
        </p:spPr>
        <p:txBody>
          <a:bodyPr anchorCtr="0" anchor="t" bIns="91425" lIns="91425" spcFirstLastPara="1" rIns="91425" wrap="square" tIns="91425">
            <a:spAutoFit/>
          </a:bodyPr>
          <a:lstStyle/>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3. The Output: A Searchable, Actionable Knowledge Graph</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don't just "search for a part." You query the graph:</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i="1" lang="en" sz="1200">
                <a:solidFill>
                  <a:srgbClr val="0F1115"/>
                </a:solidFill>
                <a:highlight>
                  <a:srgbClr val="FFFFFF"/>
                </a:highlight>
                <a:latin typeface="Roboto"/>
                <a:ea typeface="Roboto"/>
                <a:cs typeface="Roboto"/>
                <a:sym typeface="Roboto"/>
              </a:rPr>
              <a:t>"Find all compressor blades made by Supplier X that have undergone more than 500 thermal cycles and have a recorded deflection of &gt;0.3mm in their last inspection."</a:t>
            </a:r>
            <a:endParaRPr i="1"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i="1" lang="en" sz="1200">
                <a:solidFill>
                  <a:srgbClr val="0F1115"/>
                </a:solidFill>
                <a:highlight>
                  <a:srgbClr val="FFFFFF"/>
                </a:highlight>
                <a:latin typeface="Roboto"/>
                <a:ea typeface="Roboto"/>
                <a:cs typeface="Roboto"/>
                <a:sym typeface="Roboto"/>
              </a:rPr>
              <a:t>"Show me all assemblies that use this specific bearing and have a failure report filed in the last 12 months."</a:t>
            </a:r>
            <a:endParaRPr i="1"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40"/>
          <p:cNvPicPr preferRelativeResize="0"/>
          <p:nvPr/>
        </p:nvPicPr>
        <p:blipFill>
          <a:blip r:embed="rId3">
            <a:alphaModFix/>
          </a:blip>
          <a:stretch>
            <a:fillRect/>
          </a:stretch>
        </p:blipFill>
        <p:spPr>
          <a:xfrm>
            <a:off x="473375" y="742125"/>
            <a:ext cx="4140075" cy="3541600"/>
          </a:xfrm>
          <a:prstGeom prst="rect">
            <a:avLst/>
          </a:prstGeom>
          <a:noFill/>
          <a:ln>
            <a:noFill/>
          </a:ln>
        </p:spPr>
      </p:pic>
      <p:pic>
        <p:nvPicPr>
          <p:cNvPr id="192" name="Google Shape;192;p40"/>
          <p:cNvPicPr preferRelativeResize="0"/>
          <p:nvPr/>
        </p:nvPicPr>
        <p:blipFill>
          <a:blip r:embed="rId4">
            <a:alphaModFix/>
          </a:blip>
          <a:stretch>
            <a:fillRect/>
          </a:stretch>
        </p:blipFill>
        <p:spPr>
          <a:xfrm>
            <a:off x="4569975" y="742125"/>
            <a:ext cx="4310275" cy="34980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41"/>
          <p:cNvSpPr txBox="1"/>
          <p:nvPr/>
        </p:nvSpPr>
        <p:spPr>
          <a:xfrm>
            <a:off x="1587600" y="2120325"/>
            <a:ext cx="6147900" cy="8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Potential AI Use Case with the data</a:t>
            </a:r>
            <a:endParaRPr sz="18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2"/>
          <p:cNvSpPr txBox="1"/>
          <p:nvPr/>
        </p:nvSpPr>
        <p:spPr>
          <a:xfrm>
            <a:off x="492300" y="484050"/>
            <a:ext cx="8159400" cy="4056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I. Foundational &amp; Diagnostic Use Cases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Universal Part Search (Google for Parts)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Description: A single search interface to find parts by any attribute.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Nature: Descriptive/Diagnostic.</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Categories Used: 1 (Core Identification), 2 (Classification &amp; Type), 3 (Material &amp; Properties), 4 (Geometric &amp; Physical)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Eliminates duplicate design work. This is the #1 priority.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Where-Used Analysis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Description: See every parent assembly (BOM) a part is used in.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Nature: Diagnostic.</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Categories Used: 1 (Core Identification), 7 (Assembly &amp; BOM Context)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Critical for change management and supply chain risk assessment.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BOM Comparison &amp; Validation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Description: Automatically compare two BOM versions to highlight changes.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Nature: Diagnostic.</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Categories Used: 1 (Core Identification), 7 (Assembly &amp; BOM Context)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Accelerates engineering change orders and prevents errors.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3"/>
          <p:cNvSpPr txBox="1"/>
          <p:nvPr/>
        </p:nvSpPr>
        <p:spPr>
          <a:xfrm>
            <a:off x="608050" y="437550"/>
            <a:ext cx="8077200" cy="4268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II. Advanced &amp; Predictive Use Cases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startAt="4"/>
            </a:pPr>
            <a:r>
              <a:rPr lang="en" sz="1200">
                <a:solidFill>
                  <a:srgbClr val="0F1115"/>
                </a:solidFill>
                <a:highlight>
                  <a:srgbClr val="FFFFFF"/>
                </a:highlight>
                <a:latin typeface="Roboto"/>
                <a:ea typeface="Roboto"/>
                <a:cs typeface="Roboto"/>
                <a:sym typeface="Roboto"/>
              </a:rPr>
              <a:t>Obsolete Part Flagging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Description: Automatically flag parts with a status of "Obsolete" or from a defunct supplier.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Nature: Predictive.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Categories Used: 1 (Core Identification), 6 (Manufacturing &amp; Supply), 9 (Lifecycle &amp; Status)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Prevents obsolete components from being used in new designs.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startAt="4"/>
            </a:pPr>
            <a:r>
              <a:rPr lang="en" sz="1200">
                <a:solidFill>
                  <a:srgbClr val="0F1115"/>
                </a:solidFill>
                <a:highlight>
                  <a:srgbClr val="FFFFFF"/>
                </a:highlight>
                <a:latin typeface="Roboto"/>
                <a:ea typeface="Roboto"/>
                <a:cs typeface="Roboto"/>
                <a:sym typeface="Roboto"/>
              </a:rPr>
              <a:t>Design Rule Checking (DRC)</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Description: Automated checks against internal standards (e.g., material compliance, safety rules).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Nature: Predictive.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Categories Used: 2 (Classification &amp; Type), 3 (Material &amp; Properties), 4 (Geometric &amp; Physical), 5 (Functional &amp; Relational), 9 (Lifecycle &amp; Status)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Enforces best practices and ensures compliance early 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startAt="4"/>
            </a:pPr>
            <a:r>
              <a:rPr lang="en" sz="1200">
                <a:solidFill>
                  <a:srgbClr val="0F1115"/>
                </a:solidFill>
                <a:highlight>
                  <a:srgbClr val="FFFFFF"/>
                </a:highlight>
                <a:latin typeface="Roboto"/>
                <a:ea typeface="Roboto"/>
                <a:cs typeface="Roboto"/>
                <a:sym typeface="Roboto"/>
              </a:rPr>
              <a:t>Mass &amp; Cost Roll-Up</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Description: Calculate the total mass and cost of an assembly by aggregating data from its parts.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Nature: Predictive.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Categories Used: 4 (Geometric &amp; Physical), 6 (Manufacturing &amp; Supply), 7 (Assembly &amp; BOM Context)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Provides instant feedback to help meet weight and cost targets.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4"/>
          <p:cNvSpPr txBox="1"/>
          <p:nvPr/>
        </p:nvSpPr>
        <p:spPr>
          <a:xfrm>
            <a:off x="574800" y="265850"/>
            <a:ext cx="8159400" cy="4480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III. Transformative &amp; Prescriptive Use Cases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startAt="7"/>
            </a:pPr>
            <a:r>
              <a:rPr lang="en" sz="1200">
                <a:solidFill>
                  <a:srgbClr val="0F1115"/>
                </a:solidFill>
                <a:highlight>
                  <a:srgbClr val="FFFFFF"/>
                </a:highlight>
                <a:latin typeface="Roboto"/>
                <a:ea typeface="Roboto"/>
                <a:cs typeface="Roboto"/>
                <a:sym typeface="Roboto"/>
              </a:rPr>
              <a:t>Automated Alternate Part Suggestion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Description: Suggest certified alternates for obsolete or long-lead-time parts.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Nature: Prescriptive.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Categories Used: 2 (Classification &amp; Type), 3 (Material &amp; Properties), 4 (Geometric &amp; Physical), 5 (Functional &amp; Relational), 6 (Manufacturing &amp; Supply)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Dramatically reduces time to mitigate supply chain disruptions.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startAt="7"/>
            </a:pPr>
            <a:r>
              <a:rPr lang="en" sz="1200">
                <a:solidFill>
                  <a:srgbClr val="0F1115"/>
                </a:solidFill>
                <a:highlight>
                  <a:srgbClr val="FFFFFF"/>
                </a:highlight>
                <a:latin typeface="Roboto"/>
                <a:ea typeface="Roboto"/>
                <a:cs typeface="Roboto"/>
                <a:sym typeface="Roboto"/>
              </a:rPr>
              <a:t>Generative BOM Creation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Description: Automatically generate a standardized BOM by analyzing a CAD assembly.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Nature: Prescriptive.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Categories Used: 1 (Core Identification), 2 (Classification &amp; Type), 3 (Material &amp; Properties), 7 (Assembly &amp; BOM Context)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Eliminates manual data entry and a massive source of human error.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startAt="7"/>
            </a:pPr>
            <a:r>
              <a:rPr lang="en" sz="1200">
                <a:solidFill>
                  <a:srgbClr val="0F1115"/>
                </a:solidFill>
                <a:highlight>
                  <a:srgbClr val="FFFFFF"/>
                </a:highlight>
                <a:latin typeface="Roboto"/>
                <a:ea typeface="Roboto"/>
                <a:cs typeface="Roboto"/>
                <a:sym typeface="Roboto"/>
              </a:rPr>
              <a:t>Maintenance-Driven Redesign Flagging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Description: Flag parts with high failure rates for potential redesign.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Nature: Prescriptive.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Metadata Categories Used: 1 (Core Identification), 8 (Performance &amp; Simulation), 10 (Usage &amp; Maintenance)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Value: Closes the loop between design and operation, reducing warranty costs and improving reliability.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5"/>
          <p:cNvSpPr txBox="1"/>
          <p:nvPr/>
        </p:nvSpPr>
        <p:spPr>
          <a:xfrm>
            <a:off x="1351200" y="1784175"/>
            <a:ext cx="6882900" cy="137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value and complexity of the use case are directly tied to the number and richness of the metadata categories it requires. You cannot achieve the powerful Prescriptive use cases without first capturing the foundational metadata for the Descriptive ones.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clearly shows that the platform must be built in phases, starting with the core identification and geometric metadata, before layering on supply, lifecycle, and performance data.</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6"/>
          <p:cNvSpPr txBox="1"/>
          <p:nvPr/>
        </p:nvSpPr>
        <p:spPr>
          <a:xfrm>
            <a:off x="1445775" y="2194975"/>
            <a:ext cx="6147900" cy="8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3 Direction for product expansion</a:t>
            </a:r>
            <a:endParaRPr sz="18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7"/>
          <p:cNvSpPr txBox="1"/>
          <p:nvPr/>
        </p:nvSpPr>
        <p:spPr>
          <a:xfrm>
            <a:off x="63000" y="194100"/>
            <a:ext cx="9018000" cy="4568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Depth: The Intelligence Axis (Descriptive -&gt; Diagnostic -&gt; Predictive -&gt; Prescriptive)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axis defines the evolving "IQ" of the platform.</a:t>
            </a:r>
            <a:endParaRPr sz="1200">
              <a:solidFill>
                <a:srgbClr val="0F1115"/>
              </a:solidFill>
              <a:highlight>
                <a:srgbClr val="FFFFFF"/>
              </a:highlight>
              <a:latin typeface="Roboto"/>
              <a:ea typeface="Roboto"/>
              <a:cs typeface="Roboto"/>
              <a:sym typeface="Roboto"/>
            </a:endParaRPr>
          </a:p>
          <a:p>
            <a:pPr indent="-292100" lvl="0" marL="457200" rtl="0" algn="l">
              <a:lnSpc>
                <a:spcPct val="115000"/>
              </a:lnSpc>
              <a:spcBef>
                <a:spcPts val="120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Descriptive ("What is? What happened?")</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Goal: Create a single source of truth.</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Features: Universal search, visual catalogs, 3D viewer, centralized dashboard showing part data, BOM visualizations.</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Example: "This is bracket PX-8892. It's made of Al6061, has a volume of 160 cm³, and is used in the A320 Landing Gear and A321 Nose Door assemblies."</a:t>
            </a:r>
            <a:endParaRPr sz="1000">
              <a:solidFill>
                <a:srgbClr val="0F1115"/>
              </a:solidFill>
              <a:highlight>
                <a:srgbClr val="FFFFFF"/>
              </a:highlight>
              <a:latin typeface="Roboto"/>
              <a:ea typeface="Roboto"/>
              <a:cs typeface="Roboto"/>
              <a:sym typeface="Roboto"/>
            </a:endParaRPr>
          </a:p>
          <a:p>
            <a:pPr indent="-292100" lvl="0" marL="4572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Diagnostic ("Why did it happen? What's wrong?")</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Goal: Provide insights and identify problems.</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Features: "Where Used" analysis, BOM change tracking, design rule checking (DRC), obsolete part flagging, cost/mass roll-up analysis.</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Example: "The cost of this assembly increased by 15% because the cost of bracket PX-8892 increased due to a change in supplier."</a:t>
            </a:r>
            <a:endParaRPr sz="1000">
              <a:solidFill>
                <a:srgbClr val="0F1115"/>
              </a:solidFill>
              <a:highlight>
                <a:srgbClr val="FFFFFF"/>
              </a:highlight>
              <a:latin typeface="Roboto"/>
              <a:ea typeface="Roboto"/>
              <a:cs typeface="Roboto"/>
              <a:sym typeface="Roboto"/>
            </a:endParaRPr>
          </a:p>
          <a:p>
            <a:pPr indent="-292100" lvl="0" marL="4572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Predictive ("What will happen?") </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Goal: Foresee problems and opportunities before they occur.</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Features: Obsolete part forecasting, supply chain risk scoring, predictive maintenance alerts, cost and mass forecasting for new designs.</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Example: "Part ABC-123 has a 95% probability of being obsolete within 18 months based on supplier financials and declining order volume. It is used in 5 critical products."</a:t>
            </a:r>
            <a:endParaRPr sz="1000">
              <a:solidFill>
                <a:srgbClr val="0F1115"/>
              </a:solidFill>
              <a:highlight>
                <a:srgbClr val="FFFFFF"/>
              </a:highlight>
              <a:latin typeface="Roboto"/>
              <a:ea typeface="Roboto"/>
              <a:cs typeface="Roboto"/>
              <a:sym typeface="Roboto"/>
            </a:endParaRPr>
          </a:p>
          <a:p>
            <a:pPr indent="-292100" lvl="0" marL="4572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Prescriptive ("What should I do?")</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Goal: Automate decisions and recommend actions.</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Features: Automated alternate part suggestion, generative BOM creation, maintenance-driven redesign flags, automated compliance checks, AI-driven design optimization prompts.</a:t>
            </a:r>
            <a:endParaRPr sz="1000">
              <a:solidFill>
                <a:srgbClr val="0F1115"/>
              </a:solidFill>
              <a:highlight>
                <a:srgbClr val="FFFFFF"/>
              </a:highlight>
              <a:latin typeface="Roboto"/>
              <a:ea typeface="Roboto"/>
              <a:cs typeface="Roboto"/>
              <a:sym typeface="Roboto"/>
            </a:endParaRPr>
          </a:p>
          <a:p>
            <a:pPr indent="-292100" lvl="1" marL="914400" rtl="0" algn="l">
              <a:lnSpc>
                <a:spcPct val="115000"/>
              </a:lnSpc>
              <a:spcBef>
                <a:spcPts val="0"/>
              </a:spcBef>
              <a:spcAft>
                <a:spcPts val="0"/>
              </a:spcAft>
              <a:buClr>
                <a:srgbClr val="0F1115"/>
              </a:buClr>
              <a:buSzPts val="1000"/>
              <a:buFont typeface="Roboto"/>
              <a:buChar char="○"/>
            </a:pPr>
            <a:r>
              <a:rPr lang="en" sz="1000">
                <a:solidFill>
                  <a:srgbClr val="0F1115"/>
                </a:solidFill>
                <a:highlight>
                  <a:srgbClr val="FFFFFF"/>
                </a:highlight>
                <a:latin typeface="Roboto"/>
                <a:ea typeface="Roboto"/>
                <a:cs typeface="Roboto"/>
                <a:sym typeface="Roboto"/>
              </a:rPr>
              <a:t>Example: "Part ABC-123 is obsolete. You should use alternate part XYZ-456, which is 10% cheaper and in stock. Click here to approve the substitution in all relevant assemblies."</a:t>
            </a:r>
            <a:endParaRPr sz="10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8"/>
          <p:cNvSpPr txBox="1"/>
          <p:nvPr/>
        </p:nvSpPr>
        <p:spPr>
          <a:xfrm>
            <a:off x="88800" y="389850"/>
            <a:ext cx="9055200" cy="4363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Horizontal: The Digital Thread Axis (Requirement -&gt; CAD -&gt; BOM -&gt; Manufacturing -&gt; Maintenance)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axis represents the platform's ability to connect the entire product lifecycle, creating a "Digital Thread."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Requirement &amp; Design (CAD):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Focus: Ingest and manage requirements. Ingest CAD files from any system (NX, SW, CATIA). Extract metadata and geometry. Enable search and reuse.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Key Data: Requirements, 3D Models, Drawings, Part Metadata (Categories 1-5).</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Planning (BOM):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Focus: Manage Bills of Materials. Link CAD data to ERP data. Manage assembly structures and variants.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Key Data: BOMs, AVLs (Approved Vendor Lists), Cost Data, Part Relationships (Category 7).</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Execution (Manufacturing):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Focus: Connect design intent to manufacturing reality. Link to MES systems. Manage manufacturing process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Key Data: Manufacturing Processes, Tolerances, Supplier Info, Work Instructions (Categories 6, 8).</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Operation (Maintenance):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Focus: Close the loop. Connect the as-designed data to the as-maintained reality. Incorporate IoT and field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Key Data: Maintenance Records, Failure Reports, Inspection Data, Sensor Data (Categories 9, 10).</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 platform's value explodes when it connects these stages. E.g., A field maintenance report (Operation) triggers a redesign of the part (Design), which is automatically validated against requirements and manufacturing capabilities.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9"/>
          <p:cNvSpPr txBox="1"/>
          <p:nvPr/>
        </p:nvSpPr>
        <p:spPr>
          <a:xfrm>
            <a:off x="0" y="515100"/>
            <a:ext cx="9144000" cy="3785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Vertical: The Domain Axis (Aerospace -&gt; Electronics -&gt; Smart Cities -&gt; Defence)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axis defines the specific industries and use cases the platform will specialize in. The core platform remains the same, but the data models, connectors, and AI features are tailored to the domain's unique needs.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Aerospace &amp; Aviation: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Specialization: Emphasis on traceability, compliance (FAA, EASA), weight optimization, and MRO (Maintenance, Repair, Overhaul).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Key Metadata: Lifecycle Status, Airworthiness Directives, Material Certifications.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Electronics &amp; Defence: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Specialization: Management of components, obsolescence tracking, compliance (ITAR, export control), and complex system-of-systems integration.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Key Metadata: Component Specifications, Obsolescence Dates, Classification Level.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Smart Cities &amp; Infrastructure: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Specialization: GIS integration, large-scale point cloud and BIM data management, public utility data, sustainability metrics.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Key Metadata: Geospatial Coordinates, Sensor IDs, Maintenance Schedules.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50"/>
          <p:cNvSpPr txBox="1"/>
          <p:nvPr/>
        </p:nvSpPr>
        <p:spPr>
          <a:xfrm>
            <a:off x="925675" y="1216825"/>
            <a:ext cx="6987300" cy="237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ultimate vision is a platform that deepens its intelligence over time, connects the horizontal digital thread, and can be specialized for any vertical domain.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 customer in Aerospace would use the platform to:</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(Horizontal: Design) Find a certified bracket.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(Horizontal: BOM) See which aircraft models use it and its current cost.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(Depth: Diagnostic) Get an alert that its supplier is being acquired, creating risk.</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(Depth: Prescriptive) Receive and approve a pre-vetted alternate part suggestion.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(Horizontal: Maintenance) The change is automatically propagated to all relevant maintenance manuals and digital twins.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51"/>
          <p:cNvSpPr txBox="1"/>
          <p:nvPr/>
        </p:nvSpPr>
        <p:spPr>
          <a:xfrm>
            <a:off x="1423375" y="1799325"/>
            <a:ext cx="6147900" cy="8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Defensive / Offensive</a:t>
            </a:r>
            <a:br>
              <a:rPr lang="en" sz="1800">
                <a:solidFill>
                  <a:schemeClr val="dk2"/>
                </a:solidFill>
              </a:rPr>
            </a:br>
            <a:endParaRPr sz="1800">
              <a:solidFill>
                <a:schemeClr val="dk2"/>
              </a:solidFill>
            </a:endParaRPr>
          </a:p>
          <a:p>
            <a:pPr indent="0" lvl="0" marL="0" rtl="0" algn="ctr">
              <a:spcBef>
                <a:spcPts val="0"/>
              </a:spcBef>
              <a:spcAft>
                <a:spcPts val="0"/>
              </a:spcAft>
              <a:buNone/>
            </a:pPr>
            <a:r>
              <a:rPr lang="en" sz="1200">
                <a:solidFill>
                  <a:srgbClr val="0F1115"/>
                </a:solidFill>
                <a:highlight>
                  <a:srgbClr val="FFFFFF"/>
                </a:highlight>
                <a:latin typeface="Roboto"/>
                <a:ea typeface="Roboto"/>
                <a:cs typeface="Roboto"/>
                <a:sym typeface="Roboto"/>
              </a:rPr>
              <a:t>This platform is both a defensive shield and an offensive sword. Its nature shifts from primarily defensive to overwhelmingly offensive as it matures through the four stages of intelligence.</a:t>
            </a:r>
            <a:endParaRPr sz="1800">
              <a:solidFill>
                <a:schemeClr val="dk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52"/>
          <p:cNvSpPr txBox="1"/>
          <p:nvPr/>
        </p:nvSpPr>
        <p:spPr>
          <a:xfrm>
            <a:off x="313075" y="1298925"/>
            <a:ext cx="8577600" cy="214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Descriptive: The Defensive Foundation</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Defensive Role: This is your single source of truth. It defends against chaos, inefficiency, and error.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Shields Against: Wasted engineering hours searching for files, accidental use of wrong part revisions, duplicate design work, and general disorganization.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Analogy: It's building strong, high walls and an accurate map of your own kingdom. It doesn't help you conquer new lands, but it prevents your own kingdom from falling into civil war and disarray.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Offensive Capability: Minimal. The main offensive value is internal efficiency, which frees up resources to be used elsewhere.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53"/>
          <p:cNvSpPr txBox="1"/>
          <p:nvPr/>
        </p:nvSpPr>
        <p:spPr>
          <a:xfrm>
            <a:off x="537500" y="1269075"/>
            <a:ext cx="7913100" cy="214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Diagnostic: The Defensive Intelligence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Defensive Role: This is your early warning system. It actively diagnoses problems and root causes, allowing you to defend against threats before they escalate.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Shields Against: Costly engineering change orders (ECOs), supply chain disruptions from a single sourced part, compliance failures, and manufacturing errors.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Analogy: It's the scout who rides back to the castle to report </a:t>
            </a:r>
            <a:r>
              <a:rPr i="1" lang="en" sz="1200">
                <a:solidFill>
                  <a:srgbClr val="0F1115"/>
                </a:solidFill>
                <a:highlight>
                  <a:srgbClr val="FFFFFF"/>
                </a:highlight>
                <a:latin typeface="Roboto"/>
                <a:ea typeface="Roboto"/>
                <a:cs typeface="Roboto"/>
                <a:sym typeface="Roboto"/>
              </a:rPr>
              <a:t>why</a:t>
            </a:r>
            <a:r>
              <a:rPr lang="en" sz="1200">
                <a:solidFill>
                  <a:srgbClr val="0F1115"/>
                </a:solidFill>
                <a:highlight>
                  <a:srgbClr val="FFFFFF"/>
                </a:highlight>
                <a:latin typeface="Roboto"/>
                <a:ea typeface="Roboto"/>
                <a:cs typeface="Roboto"/>
                <a:sym typeface="Roboto"/>
              </a:rPr>
              <a:t> the eastern bridge collapsed (poor design) and </a:t>
            </a:r>
            <a:r>
              <a:rPr i="1" lang="en" sz="1200">
                <a:solidFill>
                  <a:srgbClr val="0F1115"/>
                </a:solidFill>
                <a:highlight>
                  <a:srgbClr val="FFFFFF"/>
                </a:highlight>
                <a:latin typeface="Roboto"/>
                <a:ea typeface="Roboto"/>
                <a:cs typeface="Roboto"/>
                <a:sym typeface="Roboto"/>
              </a:rPr>
              <a:t>which</a:t>
            </a:r>
            <a:r>
              <a:rPr lang="en" sz="1200">
                <a:solidFill>
                  <a:srgbClr val="0F1115"/>
                </a:solidFill>
                <a:highlight>
                  <a:srgbClr val="FFFFFF"/>
                </a:highlight>
                <a:latin typeface="Roboto"/>
                <a:ea typeface="Roboto"/>
                <a:cs typeface="Roboto"/>
                <a:sym typeface="Roboto"/>
              </a:rPr>
              <a:t> other bridges might have the same flaw. This is proactive defense.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Offensive Capability: Low. Its value is still primarily in risk mitigation and cost avoidance.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54"/>
          <p:cNvSpPr txBox="1"/>
          <p:nvPr/>
        </p:nvSpPr>
        <p:spPr>
          <a:xfrm>
            <a:off x="290700" y="1216800"/>
            <a:ext cx="8562600" cy="256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Predictive: The Offensive Enabler</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Offensive Role: This is your crystal ball. It shifts the platform from looking backward to looking forward, enabling you to seize opportunities and strike before competitors even see the change coming.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Sword For: Identifying future supply chain bottlenecks years in advance, predicting market shifts based on material availability, anticipating customer needs for next-gen products, and seeing which product lines will become most profitable.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Analogy: This is the general who uses weather forecasts and intelligence on enemy troop movements (predictive data) to choose the time and place of the battle. It allows you to act on your terms.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Defensive Capability: High. Prediction is the ultimate defense. Predicting a part's obsolescence two years out is a more powerful defense than diagnosing why a production line stopped yesterday.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5"/>
          <p:cNvSpPr txBox="1"/>
          <p:nvPr/>
        </p:nvSpPr>
        <p:spPr>
          <a:xfrm>
            <a:off x="152550" y="1181100"/>
            <a:ext cx="8838900" cy="2781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Prescriptive: The Offensive Weapon</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Offensive Role: This is your fully automated army. It doesn't just predict the future; it tells you the optimal action to take and can even execute it. This is where the platform becomes a direct source of competitive advantage and market leadership.</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Sword For: Automatically re-engineering products for cost reduction without human intervention, launching derivative products faster than anyone else, creating ultra-reliable products with minimal failure rates, and dynamically optimizing supply chains for maximum resilience and profit.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Analogy: This is no longer just a general making a plan. This is a fully autonomous drone fleet that identifies targets, makes the decision to engage, and executes the strike faster than any human ever could. It allows you to outmaneuver and out-innovate competitors on a completely different timescale.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Defensive Capability: Total. Prescriptive actions automatically neutralize threats before they can cause damage.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graphicFrame>
        <p:nvGraphicFramePr>
          <p:cNvPr id="272" name="Google Shape;272;p56"/>
          <p:cNvGraphicFramePr/>
          <p:nvPr/>
        </p:nvGraphicFramePr>
        <p:xfrm>
          <a:off x="697350" y="2302350"/>
          <a:ext cx="3000000" cy="3000000"/>
        </p:xfrm>
        <a:graphic>
          <a:graphicData uri="http://schemas.openxmlformats.org/drawingml/2006/table">
            <a:tbl>
              <a:tblPr>
                <a:noFill/>
                <a:tableStyleId>{E140739C-67F7-4B14-85D5-AACBD16AE2FA}</a:tableStyleId>
              </a:tblPr>
              <a:tblGrid>
                <a:gridCol w="1104900"/>
                <a:gridCol w="1257300"/>
                <a:gridCol w="3143250"/>
                <a:gridCol w="2438400"/>
              </a:tblGrid>
              <a:tr h="42862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Stage</a:t>
                      </a:r>
                      <a:endParaRPr sz="1150">
                        <a:solidFill>
                          <a:srgbClr val="0F1115"/>
                        </a:solidFill>
                        <a:highlight>
                          <a:srgbClr val="FFFFFF"/>
                        </a:highlight>
                        <a:latin typeface="Roboto"/>
                        <a:ea typeface="Roboto"/>
                        <a:cs typeface="Roboto"/>
                        <a:sym typeface="Roboto"/>
                      </a:endParaRPr>
                    </a:p>
                  </a:txBody>
                  <a:tcPr marT="95250" marB="95250" marR="152400" marL="91425">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Primary Role</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Value</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Metaphor</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Descriptive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Defensive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Cost Avoidance, Stability</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Strong Walls &amp; A Map</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Diagnostic</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Defensive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Risk Mitigation</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Scouts &amp; Early Warning System</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Predictive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Offensive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Strategic Foresight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The General's Crystal Ball</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Prescriptive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Offensive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Market Dominance, Autonomous Innovation</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The Autonomous Drone Fleet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
        <p:nvSpPr>
          <p:cNvPr id="273" name="Google Shape;273;p56"/>
          <p:cNvSpPr txBox="1"/>
          <p:nvPr/>
        </p:nvSpPr>
        <p:spPr>
          <a:xfrm>
            <a:off x="1861500" y="-382000"/>
            <a:ext cx="5421000" cy="30000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Summary: The Strategic Evolution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Conclusion: The platform starts as a defensive tool for creating order and efficiency. Once that foundation is built, it evolves into the most powerful offensive weapon a modern engineering-driven company can possess. It allows you to move from </a:t>
            </a:r>
            <a:r>
              <a:rPr i="1" lang="en" sz="1200">
                <a:solidFill>
                  <a:srgbClr val="0F1115"/>
                </a:solidFill>
                <a:highlight>
                  <a:srgbClr val="FFFFFF"/>
                </a:highlight>
                <a:latin typeface="Roboto"/>
                <a:ea typeface="Roboto"/>
                <a:cs typeface="Roboto"/>
                <a:sym typeface="Roboto"/>
              </a:rPr>
              <a:t>reacting to the market</a:t>
            </a:r>
            <a:r>
              <a:rPr lang="en" sz="1200">
                <a:solidFill>
                  <a:srgbClr val="0F1115"/>
                </a:solidFill>
                <a:highlight>
                  <a:srgbClr val="FFFFFF"/>
                </a:highlight>
                <a:latin typeface="Roboto"/>
                <a:ea typeface="Roboto"/>
                <a:cs typeface="Roboto"/>
                <a:sym typeface="Roboto"/>
              </a:rPr>
              <a:t> to </a:t>
            </a:r>
            <a:r>
              <a:rPr i="1" lang="en" sz="1200">
                <a:solidFill>
                  <a:srgbClr val="0F1115"/>
                </a:solidFill>
                <a:highlight>
                  <a:srgbClr val="FFFFFF"/>
                </a:highlight>
                <a:latin typeface="Roboto"/>
                <a:ea typeface="Roboto"/>
                <a:cs typeface="Roboto"/>
                <a:sym typeface="Roboto"/>
              </a:rPr>
              <a:t>actively shaping it.</a:t>
            </a:r>
            <a:endParaRPr i="1"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7"/>
          <p:cNvSpPr txBox="1"/>
          <p:nvPr/>
        </p:nvSpPr>
        <p:spPr>
          <a:xfrm>
            <a:off x="1498050" y="1933700"/>
            <a:ext cx="6147900" cy="8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Cost Saving / Revenue Gain</a:t>
            </a:r>
            <a:endParaRPr sz="1800">
              <a:solidFill>
                <a:schemeClr val="dk2"/>
              </a:solidFill>
            </a:endParaRPr>
          </a:p>
          <a:p>
            <a:pPr indent="0" lvl="0" marL="0" rtl="0" algn="ctr">
              <a:spcBef>
                <a:spcPts val="0"/>
              </a:spcBef>
              <a:spcAft>
                <a:spcPts val="0"/>
              </a:spcAft>
              <a:buNone/>
            </a:pPr>
            <a:r>
              <a:t/>
            </a:r>
            <a:endParaRPr sz="1800">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8"/>
          <p:cNvSpPr txBox="1"/>
          <p:nvPr/>
        </p:nvSpPr>
        <p:spPr>
          <a:xfrm>
            <a:off x="1388525" y="843550"/>
            <a:ext cx="6972600" cy="3572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Descriptive: The Foundation for Efficiency (Cost Savings)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Creating a single source of truth. Knowing what parts exist, where they are, and what they're made of.</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Financial Impact: Massive Cost Avoidance &amp; Efficiency Gains.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Eliminate Duplicate Design: Engineers spend ~20% of their time searching for data. If you save them just 5 hours a week, that's a 12.5% productivity gain for a $100k engineer ($12.5k value per engineer, per year).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Reduce Prototyping &amp; Physical Testing: Finding and reusing a proven part is orders of magnitude cheaper than designing, prototyping, and testing a new one. This saves thousands of dollars per part avoided.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Accelerate Onboarding: New engineers become productive weeks or months faster because they can find what they need.</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Financial Summary (Descriptive): This stage doesn't directly make money. It stops bleeding cash from inefficiency and waste. It pays for itself through productivity gains and cost avoidance.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9"/>
          <p:cNvSpPr txBox="1"/>
          <p:nvPr/>
        </p:nvSpPr>
        <p:spPr>
          <a:xfrm>
            <a:off x="321000" y="1089900"/>
            <a:ext cx="8607300" cy="3360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Diagnostic: The Engine of Risk Mitigation (Cost Savings)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Understanding why things happen. Analyzing root causes of problems like cost overruns, delays, and failures.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Financial Impact: Preventing Catastrophic Expenses.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Avoid Engineering Change Orders (ECOs): A single, late-stage ECO can cost $5,000 to $50,000+ in rework, scrap, and documentation. Diagnostic tools catch errors early when they are 100x cheaper to fix.</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Mitigate Supply Chain Shocks: A "Where Used" analysis can be performed in minutes instead of days. When a supplier fails, you can instantly see which products and revenue streams are at risk, allowing you to mitigate the problem before it stops a production line (saving millions).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Enforce Compliance: Automated design rule checking prevents the use of unapproved materials or processes, avoiding costly certification delays and rework.</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Financial Summary (Diagnostic): This stage is corporate insurance. It protects against low-probability, high-impact events that can destroy quarterly profits.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60"/>
          <p:cNvSpPr txBox="1"/>
          <p:nvPr/>
        </p:nvSpPr>
        <p:spPr>
          <a:xfrm>
            <a:off x="149300" y="798775"/>
            <a:ext cx="8943300" cy="3360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Predictive: The Source of Strategic Advantage (Revenue Growth &amp; Cost Leadership)</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Forecasting what </a:t>
            </a:r>
            <a:r>
              <a:rPr i="1" lang="en" sz="1200">
                <a:solidFill>
                  <a:srgbClr val="0F1115"/>
                </a:solidFill>
                <a:highlight>
                  <a:srgbClr val="FFFFFF"/>
                </a:highlight>
                <a:latin typeface="Roboto"/>
                <a:ea typeface="Roboto"/>
                <a:cs typeface="Roboto"/>
                <a:sym typeface="Roboto"/>
              </a:rPr>
              <a:t>will</a:t>
            </a:r>
            <a:r>
              <a:rPr lang="en" sz="1200">
                <a:solidFill>
                  <a:srgbClr val="0F1115"/>
                </a:solidFill>
                <a:highlight>
                  <a:srgbClr val="FFFFFF"/>
                </a:highlight>
                <a:latin typeface="Roboto"/>
                <a:ea typeface="Roboto"/>
                <a:cs typeface="Roboto"/>
                <a:sym typeface="Roboto"/>
              </a:rPr>
              <a:t> happen. Using data to anticipate problems and opportunities.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**Financial Impact: Outmaneuver Competitors and Optimize Operations.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Beat Competitors to Market: Predicting obsolescence or supply issues 18 months out allows you to redesign products </a:t>
            </a:r>
            <a:r>
              <a:rPr i="1" lang="en" sz="1200">
                <a:solidFill>
                  <a:srgbClr val="0F1115"/>
                </a:solidFill>
                <a:highlight>
                  <a:srgbClr val="FFFFFF"/>
                </a:highlight>
                <a:latin typeface="Roboto"/>
                <a:ea typeface="Roboto"/>
                <a:cs typeface="Roboto"/>
                <a:sym typeface="Roboto"/>
              </a:rPr>
              <a:t>before</a:t>
            </a:r>
            <a:r>
              <a:rPr lang="en" sz="1200">
                <a:solidFill>
                  <a:srgbClr val="0F1115"/>
                </a:solidFill>
                <a:highlight>
                  <a:srgbClr val="FFFFFF"/>
                </a:highlight>
                <a:latin typeface="Roboto"/>
                <a:ea typeface="Roboto"/>
                <a:cs typeface="Roboto"/>
                <a:sym typeface="Roboto"/>
              </a:rPr>
              <a:t> a crisis hits. This prevents competitors from being able to deliver while you are stuck in a supply chain nightmare. This protects and can increase market share.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Predictive Maintenance: For MRO (Maintenance, Repair, Overhaul), predicting part failures allows you to fix components during scheduled downtime, not during catastrophic failure. This maximizes asset uptime (e.g., keeping an aircraft flying and generating revenue).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Optimize for Cost &amp; Weight: Predictive cost/mass roll-ups allow engineers to iterate digitally to find the optimal design before any metal is cut. This directly leads to cheaper, lighter, and more competitive products.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Financial Summary (Predictive): This stage transitions the platform from a cost-center to a strategic asset. It provides the insights needed to make smarter decisions faster than the competition, directly leading to revenue protection and growth.</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61"/>
          <p:cNvSpPr txBox="1"/>
          <p:nvPr/>
        </p:nvSpPr>
        <p:spPr>
          <a:xfrm>
            <a:off x="141450" y="254400"/>
            <a:ext cx="8861100" cy="4634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Prescriptive: The Platform for Dominance (New Revenue Streams)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Automating what to do. The system recommends and executes optimal decisions.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Financial Impact: Create New Business Models and Achieve Market Dominance.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Out-Bid Competitors: Automated design and sourcing recommendations allow you to consistently build products faster, cheaper, and with higher reliability than competitors. You can win contracts with tighter margins and shorter deadlines that others cannot fulfill.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Become a Platform for Others: This is the ultimate offensive move. You can license your now-proven platform to your suppliers and partners.</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Force suppliers to onboard </a:t>
            </a:r>
            <a:r>
              <a:rPr i="1" lang="en" sz="1200">
                <a:solidFill>
                  <a:srgbClr val="0F1115"/>
                </a:solidFill>
                <a:highlight>
                  <a:srgbClr val="FFFFFF"/>
                </a:highlight>
                <a:latin typeface="Roboto"/>
                <a:ea typeface="Roboto"/>
                <a:cs typeface="Roboto"/>
                <a:sym typeface="Roboto"/>
              </a:rPr>
              <a:t>their</a:t>
            </a:r>
            <a:r>
              <a:rPr lang="en" sz="1200">
                <a:solidFill>
                  <a:srgbClr val="0F1115"/>
                </a:solidFill>
                <a:highlight>
                  <a:srgbClr val="FFFFFF"/>
                </a:highlight>
                <a:latin typeface="Roboto"/>
                <a:ea typeface="Roboto"/>
                <a:cs typeface="Roboto"/>
                <a:sym typeface="Roboto"/>
              </a:rPr>
              <a:t> data into </a:t>
            </a:r>
            <a:r>
              <a:rPr i="1" lang="en" sz="1200">
                <a:solidFill>
                  <a:srgbClr val="0F1115"/>
                </a:solidFill>
                <a:highlight>
                  <a:srgbClr val="FFFFFF"/>
                </a:highlight>
                <a:latin typeface="Roboto"/>
                <a:ea typeface="Roboto"/>
                <a:cs typeface="Roboto"/>
                <a:sym typeface="Roboto"/>
              </a:rPr>
              <a:t>your</a:t>
            </a:r>
            <a:r>
              <a:rPr lang="en" sz="1200">
                <a:solidFill>
                  <a:srgbClr val="0F1115"/>
                </a:solidFill>
                <a:highlight>
                  <a:srgbClr val="FFFFFF"/>
                </a:highlight>
                <a:latin typeface="Roboto"/>
                <a:ea typeface="Roboto"/>
                <a:cs typeface="Roboto"/>
                <a:sym typeface="Roboto"/>
              </a:rPr>
              <a:t> system, further strengthening your supply chain.</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License the platform to smaller companies in your ecosystem (e.g., smaller defense contractors, construction firms) who cannot build this themselves. This creates a new, high-margin Software-as-a-Service (SaaS) revenue stream.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Unlock Autonomous Innovation: The system can automatically generate and validate new design options, drastically compressing R&amp;D cycles and creating intellectual property (IP) at a pace no human-only team could match.</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Financial Summary (Prescriptive): This stage transforms the company. It shifts from using the platform for internal efficiency to monetizing the platform itself. It creates a virtuous cycle: better data leads to a better product, which attracts more users, which generates more data, making the product even better. This is how you become the NVIDIA Omniverse or Siemens Xcelerator of your industry.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62"/>
          <p:cNvSpPr txBox="1"/>
          <p:nvPr/>
        </p:nvSpPr>
        <p:spPr>
          <a:xfrm>
            <a:off x="1104450" y="1731925"/>
            <a:ext cx="6935100" cy="1506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Overall Financial Evolution:</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Stage 1 (Descriptive): Pays for itself through cost avoidance.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Stage 2 (Diagnostic): Protects revenue by de-risking operations.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Stage 3 (Predictive): Grows revenue through competitive advantage.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Stage 4 (Prescriptive): Creates new revenue through platform monetization.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67"/>
          <p:cNvSpPr txBox="1"/>
          <p:nvPr/>
        </p:nvSpPr>
        <p:spPr>
          <a:xfrm>
            <a:off x="3620625" y="22806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tam sam som</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68"/>
          <p:cNvSpPr txBox="1"/>
          <p:nvPr/>
        </p:nvSpPr>
        <p:spPr>
          <a:xfrm>
            <a:off x="738750" y="242250"/>
            <a:ext cx="7666500" cy="4576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TAM (Total Addressable Market)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Global Market for Engineering Software and Digital Transformation.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represents the total revenue opportunity if achieving 100% market share, encompassing all potential customers who could ever use a platform that manages engineering data and processes.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Core TAM: ~$50-60 Billion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Computer-Aided Design (CAD): $10-11B</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Product Lifecycle Management (PLM): $25-28B</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Digital Twin Software: $10-12B</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Adjacent TAM (Expanded View): ~$100-150 Billion+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includes the adjacent markets that the platform would disrupt and absorb as it evolves into a prescriptive system:</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Supply Chain Management (SCM) Software: $20-25B</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Asset Performance Management (APM): $5-7B</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Engineering Services &amp; Consulting: $50-60B (a portion of which is replaced by automated platform features)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Justification: The TAM is not just for a new tool, but for the operating system of the entire engineering value chain. It aims to consolidate spend currently fragmented across CAD, PLM, ERP, SCM, and custom consulting services.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69"/>
          <p:cNvSpPr txBox="1"/>
          <p:nvPr/>
        </p:nvSpPr>
        <p:spPr>
          <a:xfrm>
            <a:off x="164225" y="761425"/>
            <a:ext cx="8749200" cy="351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SAM (Serviceable Addressable Market)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Large Enterprises in Aerospace, Defense, Automotive, and Heavy Machinery with complex design and manufacturing processes.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segment of the TAM most likely to have the pain points (multi-CAD chaos, long lifecycles, complex supply chains) and the budget to adopt a comprehensive platform solution.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Target Customers: Global 2000 manufacturing companies, major defense contractors, large engineering firms.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Estimated Number of Companies: ~5,000 - 10,000 enterprises globally.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Average Annual Value (AAV): Pricing is tiered based on data volume and users. AAV can range from: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$250,000 (for a mid-sized division) to</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$2-5M+ (for a global enterprise rollout).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SAM Calculation: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Conservative: 5,000 companies x $500,000 AAV = $2.5 Billion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Aspirational: 10,000 companies x $1M AAV = $10 Billion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70"/>
          <p:cNvSpPr txBox="1"/>
          <p:nvPr/>
        </p:nvSpPr>
        <p:spPr>
          <a:xfrm>
            <a:off x="395650" y="985425"/>
            <a:ext cx="8457900" cy="2935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Stage 1: Descriptive ("The Foundation") - Price to Drive Adoption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Goal: Become the mandatory single source of truth. Maximize data ingestion and user adoption.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Pricing Model: Cost-Plus / Per User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Base Platform Fee: ~$50,000/year. Covers core platform access, data connectors, and a baseline volume of API calls and storage.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Per User Fee: ~$100/user/month ($1,200/user/year). For "read-only" users (engineers, procurement). Power users (designers, admins) are higher.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This Works: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Low Barrier to Entry: The base fee is low enough for a division to get started.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Scalable: Pricing scales predictably with the number of users, which aligns with our cost to serve.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Objective: Get the platform adopted. The real value is in capturing the data.</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71"/>
          <p:cNvSpPr txBox="1"/>
          <p:nvPr/>
        </p:nvSpPr>
        <p:spPr>
          <a:xfrm>
            <a:off x="537500" y="1179500"/>
            <a:ext cx="8353500" cy="3147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Stage 2: Diagnostic ("The Insight Engine") - Price on Value Delivered</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Goal: Monetize the ability to prevent costly errors and de-risk operations.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Pricing Model: Value-Based / Tiered Modules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"Where-Used" Module: $25,000/year. A must-have for change management.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"BOM Compare" Module: $20,000/year.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"Design Rule Checker" Module: $40,000/year. Price based on the number of rules or checks.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This Works: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Clear ROI: Each module solves a specific, expensive problem. A single avoided ECO pays for the module for years.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Tiering: We can offer basic, professional, and enterprise tiers for each module (e.g., DRC Lite vs. DRC Enterprise with custom rules).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Objective: Move the conversation from "cost" to "investment." Clients are paying for risk mitigation.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72"/>
          <p:cNvSpPr txBox="1"/>
          <p:nvPr/>
        </p:nvSpPr>
        <p:spPr>
          <a:xfrm>
            <a:off x="287025" y="963025"/>
            <a:ext cx="8659500" cy="3360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Stage 3: Predictive ("The Crystal Ball") - Price on Business Impact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Goal: Capture a share of the immense value generated by avoiding future disasters and unlocking efficiency.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Pricing Model: Transactional / Percentage of Value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Option A (Transactional): $X per prediction. For example, a fee for every obsolescence risk alert generated.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Option B (Value Share): A percentage of the cost avoided. For example, 10% of the calculated savings from a predicted supply chain disruption that was mitigated. This could be a six-figure sum for a single event.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Preferred Model: Tiered Enterprise License. $150,000 - $500,000+/year for unlimited access to predictive analytics. This is simpler and aligns with how large enterprises budget.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This Works: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High-Value, High-Cost: The price reflects the sophisticated AI/ML tech and the massive financial value delivered.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Alignment: A value-share model perfectly aligns our success with the client's success but can be complex to audit. An enterprise license is cleaner.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Objective: Transition from a cost-saving tool to a strategic, mission-critical system.</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73"/>
          <p:cNvSpPr txBox="1"/>
          <p:nvPr/>
        </p:nvSpPr>
        <p:spPr>
          <a:xfrm>
            <a:off x="212400" y="679200"/>
            <a:ext cx="8719200" cy="3785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Stage 4: Prescriptive ("The Autonomous Engineer") - Price on Transformation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Goal: Monetize the automation of decision-making and the creation of new revenue streams for the client.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Pricing Model: Outcome-Based / Revenue Share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Outcome-Based Fee: A fee for every automated action. For example, a fee for every automated alternate part substitution executed through the platform.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Revenue Share: A share of the new revenue generated. If our platform allows a client to bring a product to market 6 months faster, we take a small percentage of the revenue for that product for a limited time.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Platform Licensing: $1M+/year enterprise license. For the full suite, including the ability to run the platform on the client's own cloud (private instance).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This Works: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Ultimate Alignment: Our price is directly tied to the client's top-line revenue and bottom-line profit. We are no longer a vendor; we are a profit-sharing partner.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Premium Pricing: This is frontier technology providing unparalleled competitive advantage. The price reflects that.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Objective: Become an indispensable, embedded part of the client's business operations and innovation engine.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74"/>
          <p:cNvSpPr txBox="1"/>
          <p:nvPr/>
        </p:nvSpPr>
        <p:spPr>
          <a:xfrm>
            <a:off x="3904300" y="21715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MVP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75"/>
          <p:cNvSpPr txBox="1"/>
          <p:nvPr/>
        </p:nvSpPr>
        <p:spPr>
          <a:xfrm>
            <a:off x="160050" y="-22396"/>
            <a:ext cx="8823900" cy="570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MVP: The Intelligent Part Search Engine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a working prototype that proves the value of the Descriptive stage. It's a web app that lets an engineer search for a 3D part using natural terms and filters, and then see a visual result.</a:t>
            </a:r>
            <a:endParaRPr sz="1200">
              <a:solidFill>
                <a:srgbClr val="0F1115"/>
              </a:solidFill>
              <a:highlight>
                <a:srgbClr val="FFFFFF"/>
              </a:highlight>
              <a:latin typeface="Roboto"/>
              <a:ea typeface="Roboto"/>
              <a:cs typeface="Roboto"/>
              <a:sym typeface="Roboto"/>
            </a:endParaRPr>
          </a:p>
          <a:p>
            <a:pPr indent="0" lvl="0" marL="0" rtl="0" algn="l">
              <a:lnSpc>
                <a:spcPct val="175000"/>
              </a:lnSpc>
              <a:spcBef>
                <a:spcPts val="1200"/>
              </a:spcBef>
              <a:spcAft>
                <a:spcPts val="0"/>
              </a:spcAft>
              <a:buNone/>
            </a:pPr>
            <a:r>
              <a:rPr b="1" lang="en" sz="1200">
                <a:solidFill>
                  <a:srgbClr val="0F1115"/>
                </a:solidFill>
                <a:highlight>
                  <a:srgbClr val="FFFFFF"/>
                </a:highlight>
                <a:latin typeface="Roboto"/>
                <a:ea typeface="Roboto"/>
                <a:cs typeface="Roboto"/>
                <a:sym typeface="Roboto"/>
              </a:rPr>
              <a:t>What to Build (The Demo):</a:t>
            </a:r>
            <a:endParaRPr b="1"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6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Simple Web Interface: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single search bar.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Dynamic filters that appear on the left (e.g., </a:t>
            </a:r>
            <a:r>
              <a:rPr lang="en" sz="1050">
                <a:solidFill>
                  <a:srgbClr val="0F1115"/>
                </a:solidFill>
                <a:highlight>
                  <a:srgbClr val="EBEEF2"/>
                </a:highlight>
                <a:latin typeface="Roboto Mono"/>
                <a:ea typeface="Roboto Mono"/>
                <a:cs typeface="Roboto Mono"/>
                <a:sym typeface="Roboto Mono"/>
              </a:rPr>
              <a:t>Material</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Part Type</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Approx. Size</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results panel that shows a 3D thumbnail and key metadata for each part.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 Demo Dataset: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Don't try to connect to live CAD systems yet. Curate a small set of 50-100 representative CAD models (e.g., brackets, housings, fasteners, connectors) from various projects.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Manually clean and tag them with the key metadata: </a:t>
            </a:r>
            <a:r>
              <a:rPr lang="en" sz="1050">
                <a:solidFill>
                  <a:srgbClr val="0F1115"/>
                </a:solidFill>
                <a:highlight>
                  <a:srgbClr val="EBEEF2"/>
                </a:highlight>
                <a:latin typeface="Roboto Mono"/>
                <a:ea typeface="Roboto Mono"/>
                <a:cs typeface="Roboto Mono"/>
                <a:sym typeface="Roboto Mono"/>
              </a:rPr>
              <a:t>Part Number</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Name</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Material</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Type</a:t>
            </a:r>
            <a:r>
              <a:rPr lang="en" sz="1200">
                <a:solidFill>
                  <a:srgbClr val="0F1115"/>
                </a:solidFill>
                <a:highlight>
                  <a:srgbClr val="FFFFFF"/>
                </a:highlight>
                <a:latin typeface="Roboto"/>
                <a:ea typeface="Roboto"/>
                <a:cs typeface="Roboto"/>
                <a:sym typeface="Roboto"/>
              </a:rPr>
              <a:t> (Bracket, Housing), </a:t>
            </a:r>
            <a:r>
              <a:rPr lang="en" sz="1050">
                <a:solidFill>
                  <a:srgbClr val="0F1115"/>
                </a:solidFill>
                <a:highlight>
                  <a:srgbClr val="EBEEF2"/>
                </a:highlight>
                <a:latin typeface="Roboto Mono"/>
                <a:ea typeface="Roboto Mono"/>
                <a:cs typeface="Roboto Mono"/>
                <a:sym typeface="Roboto Mono"/>
              </a:rPr>
              <a:t>Approx. Dimensions</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manual effort is temporary but crucial for the demo. It proves what's possible once the process is automated.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"Magic" Feature: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Convert each CAD model to a web-friendly 3D format (glTF). Use a free/open-source tool like </a:t>
            </a:r>
            <a:r>
              <a:rPr lang="en" sz="1200">
                <a:solidFill>
                  <a:srgbClr val="3964FE"/>
                </a:solidFill>
                <a:highlight>
                  <a:srgbClr val="FFFFFF"/>
                </a:highlight>
                <a:uFill>
                  <a:noFill/>
                </a:uFill>
                <a:latin typeface="Roboto"/>
                <a:ea typeface="Roboto"/>
                <a:cs typeface="Roboto"/>
                <a:sym typeface="Roboto"/>
                <a:hlinkClick r:id="rId3">
                  <a:extLst>
                    <a:ext uri="{A12FA001-AC4F-418D-AE19-62706E023703}">
                      <ahyp:hlinkClr val="tx"/>
                    </a:ext>
                  </a:extLst>
                </a:hlinkClick>
              </a:rPr>
              <a:t>CAD Exchanger</a:t>
            </a:r>
            <a:r>
              <a:rPr lang="en" sz="1200">
                <a:solidFill>
                  <a:srgbClr val="0F1115"/>
                </a:solidFill>
                <a:highlight>
                  <a:srgbClr val="FFFFFF"/>
                </a:highlight>
                <a:latin typeface="Roboto"/>
                <a:ea typeface="Roboto"/>
                <a:cs typeface="Roboto"/>
                <a:sym typeface="Roboto"/>
              </a:rPr>
              <a:t> or a cloud SDK. This allows you to display an interactive 3D thumbnail in the browser. This is the visual wow factor.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Basic Backend: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Use a simple database (even a JSON file or SQLite is fine for the demo) to store the part metadata.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Use a search library like Lunr.js (for pure JavaScript) or Elasticsearch (if you want to be more robust) to power the search and filtering.</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900"/>
              </a:spcBef>
              <a:spcAft>
                <a:spcPts val="1200"/>
              </a:spcAft>
              <a:buNone/>
            </a:pPr>
            <a:r>
              <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76"/>
          <p:cNvSpPr txBox="1"/>
          <p:nvPr/>
        </p:nvSpPr>
        <p:spPr>
          <a:xfrm>
            <a:off x="1209000" y="735450"/>
            <a:ext cx="6726000" cy="367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Set the Stage: "Everyone knows the problem. You need a 'L-bracket made of aluminum,' and you spend 45 minutes searching through folders and PDM systems."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Show the Pain: Open a file explorer window with a messy folder structure and a slow PDM system. "This is how we do it now."</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Introduce the Solution: Open your browser tab with the search engine. "What if it worked like this?"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Demo the Magic:</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Type </a:t>
            </a:r>
            <a:r>
              <a:rPr lang="en" sz="1050">
                <a:solidFill>
                  <a:srgbClr val="0F1115"/>
                </a:solidFill>
                <a:highlight>
                  <a:srgbClr val="EBEEF2"/>
                </a:highlight>
                <a:latin typeface="Roboto Mono"/>
                <a:ea typeface="Roboto Mono"/>
                <a:cs typeface="Roboto Mono"/>
                <a:sym typeface="Roboto Mono"/>
              </a:rPr>
              <a:t>bracket</a:t>
            </a:r>
            <a:r>
              <a:rPr lang="en" sz="1200">
                <a:solidFill>
                  <a:srgbClr val="0F1115"/>
                </a:solidFill>
                <a:highlight>
                  <a:srgbClr val="FFFFFF"/>
                </a:highlight>
                <a:latin typeface="Roboto"/>
                <a:ea typeface="Roboto"/>
                <a:cs typeface="Roboto"/>
                <a:sym typeface="Roboto"/>
              </a:rPr>
              <a:t> into the search bar. Watch results appear instantly.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Filter by </a:t>
            </a:r>
            <a:r>
              <a:rPr lang="en" sz="1050">
                <a:solidFill>
                  <a:srgbClr val="0F1115"/>
                </a:solidFill>
                <a:highlight>
                  <a:srgbClr val="EBEEF2"/>
                </a:highlight>
                <a:latin typeface="Roboto Mono"/>
                <a:ea typeface="Roboto Mono"/>
                <a:cs typeface="Roboto Mono"/>
                <a:sym typeface="Roboto Mono"/>
              </a:rPr>
              <a:t>Material: Aluminum 6061</a:t>
            </a:r>
            <a:r>
              <a:rPr lang="en" sz="1200">
                <a:solidFill>
                  <a:srgbClr val="0F1115"/>
                </a:solidFill>
                <a:highlight>
                  <a:srgbClr val="FFFFFF"/>
                </a:highlight>
                <a:latin typeface="Roboto"/>
                <a:ea typeface="Roboto"/>
                <a:cs typeface="Roboto"/>
                <a:sym typeface="Roboto"/>
              </a:rPr>
              <a:t>. Watch the list refine.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Filter by </a:t>
            </a:r>
            <a:r>
              <a:rPr lang="en" sz="1050">
                <a:solidFill>
                  <a:srgbClr val="0F1115"/>
                </a:solidFill>
                <a:highlight>
                  <a:srgbClr val="EBEEF2"/>
                </a:highlight>
                <a:latin typeface="Roboto Mono"/>
                <a:ea typeface="Roboto Mono"/>
                <a:cs typeface="Roboto Mono"/>
                <a:sym typeface="Roboto Mono"/>
              </a:rPr>
              <a:t>Type: L-Bracket</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Hover over a result. Watch the 3D thumbnail spin. This will blow their minds.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Click "View Details." Show the clean, structured metadata.</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73" name="Shape 373"/>
        <p:cNvGrpSpPr/>
        <p:nvPr/>
      </p:nvGrpSpPr>
      <p:grpSpPr>
        <a:xfrm>
          <a:off x="0" y="0"/>
          <a:ext cx="0" cy="0"/>
          <a:chOff x="0" y="0"/>
          <a:chExt cx="0" cy="0"/>
        </a:xfrm>
      </p:grpSpPr>
      <p:sp>
        <p:nvSpPr>
          <p:cNvPr id="374" name="Google Shape;374;p77"/>
          <p:cNvSpPr txBox="1"/>
          <p:nvPr/>
        </p:nvSpPr>
        <p:spPr>
          <a:xfrm>
            <a:off x="3986375" y="23871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chemeClr val="lt1"/>
                </a:highlight>
                <a:latin typeface="Roboto"/>
                <a:ea typeface="Roboto"/>
                <a:cs typeface="Roboto"/>
                <a:sym typeface="Roboto"/>
              </a:rPr>
              <a:t>End</a:t>
            </a:r>
            <a:endParaRPr>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78"/>
          <p:cNvSpPr txBox="1"/>
          <p:nvPr/>
        </p:nvSpPr>
        <p:spPr>
          <a:xfrm>
            <a:off x="3680950" y="23113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3D Copilot to beat NX</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79"/>
          <p:cNvSpPr txBox="1"/>
          <p:nvPr/>
        </p:nvSpPr>
        <p:spPr>
          <a:xfrm>
            <a:off x="311300" y="1027250"/>
            <a:ext cx="8614800" cy="2993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I. Strategic &amp; Business Issues (The "Why Would We?")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Core Business Misalignment: ST Engineering's business is engineering and manufacturing, not developing and selling generic CAD/AI software. This is a massive distraction from your core competencies and competitive advantages.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Unwinnable Arms Race: You are not just competing with Siemens NX. You are competing with the R&amp;D budgets of Siemens, Dassault Systèmes, Autodesk, PTC, and NVIDIA combined. They are spending billions on this exact problem. You cannot outspend or out-innovate them on their home turf.</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The "Better Mousetrap" Fallacy: Engineers don't switch CAD platforms easily. Their entire workflow, legacy data, supply chain, and expertise are tied to their current tools (NX, CATIA, SOLIDWORKS). A marginally "better" AI feature is not nearly enough to cause a seismic shift in the industry. The switching costs are astronomically high.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Monetization Mystery: How would you even make money? Selling a Copilot plugin? Licensing it? The market for third-party CAD plugins is niche and not highly profitable. You'd be a small feature against deeply integrated, native solutions.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80"/>
          <p:cNvSpPr txBox="1"/>
          <p:nvPr/>
        </p:nvSpPr>
        <p:spPr>
          <a:xfrm>
            <a:off x="178950" y="599225"/>
            <a:ext cx="8786100" cy="3630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II. Technical &amp; Resource Issues (The "How Could We?")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startAt="5"/>
            </a:pPr>
            <a:r>
              <a:rPr lang="en" sz="1200">
                <a:solidFill>
                  <a:srgbClr val="0F1115"/>
                </a:solidFill>
                <a:highlight>
                  <a:srgbClr val="FFFFFF"/>
                </a:highlight>
                <a:latin typeface="Roboto"/>
                <a:ea typeface="Roboto"/>
                <a:cs typeface="Roboto"/>
                <a:sym typeface="Roboto"/>
              </a:rPr>
              <a:t>The Data Desert Problem: AI models need vast, diverse, clean training data. ST Engineering's data is valuable but also:</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Proprietary &amp; Secret: You cannot use your sensitive defense and aerospace data to train a general-purpose model.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Narrow: It only represents your specific use cases. A true "Copilot" needs data from automotive, consumer goods, architecture, etc., to be broadly intelligent.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Messy: As we've discussed, it's trapped in silos and inconsistent. You'd spend 95% of your time on data engineering, not AI.</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startAt="5"/>
            </a:pPr>
            <a:r>
              <a:rPr lang="en" sz="1200">
                <a:solidFill>
                  <a:srgbClr val="0F1115"/>
                </a:solidFill>
                <a:highlight>
                  <a:srgbClr val="FFFFFF"/>
                </a:highlight>
                <a:latin typeface="Roboto"/>
                <a:ea typeface="Roboto"/>
                <a:cs typeface="Roboto"/>
                <a:sym typeface="Roboto"/>
              </a:rPr>
              <a:t>The "Last 10%" Problem: You might prototype 90% of a feature quickly, but the final 10%—making it robust, reliable, and integrated enough for a professional engineer—requires 10x the effort. This is where software giants excel and where internal projects fail.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startAt="5"/>
            </a:pPr>
            <a:r>
              <a:rPr lang="en" sz="1200">
                <a:solidFill>
                  <a:srgbClr val="0F1115"/>
                </a:solidFill>
                <a:highlight>
                  <a:srgbClr val="FFFFFF"/>
                </a:highlight>
                <a:latin typeface="Roboto"/>
                <a:ea typeface="Roboto"/>
                <a:cs typeface="Roboto"/>
                <a:sym typeface="Roboto"/>
              </a:rPr>
              <a:t>Integration Nightmare: A Copilot is useless unless it's deeply embedded into the user's workflow. This requires building integrations into NX, SOLIDWORKS, CATIA, etc., via their APIs. This is a constant, losing battle against updates and changes from these vendors.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startAt="5"/>
            </a:pPr>
            <a:r>
              <a:rPr lang="en" sz="1200">
                <a:solidFill>
                  <a:srgbClr val="0F1115"/>
                </a:solidFill>
                <a:highlight>
                  <a:srgbClr val="FFFFFF"/>
                </a:highlight>
                <a:latin typeface="Roboto"/>
                <a:ea typeface="Roboto"/>
                <a:cs typeface="Roboto"/>
                <a:sym typeface="Roboto"/>
              </a:rPr>
              <a:t>Maintenance Overhead: You are now in the software business. You have to maintain code, fix bugs, provide support, and manage updates forever for a tool that is not your primary product.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81"/>
          <p:cNvSpPr txBox="1"/>
          <p:nvPr/>
        </p:nvSpPr>
        <p:spPr>
          <a:xfrm>
            <a:off x="89550" y="1315175"/>
            <a:ext cx="8964900" cy="235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III. Practical &amp; User Adoption Issues (The "Would Anyone Use It?")</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startAt="9"/>
            </a:pPr>
            <a:r>
              <a:rPr lang="en" sz="1200">
                <a:solidFill>
                  <a:srgbClr val="0F1115"/>
                </a:solidFill>
                <a:highlight>
                  <a:srgbClr val="FFFFFF"/>
                </a:highlight>
                <a:latin typeface="Roboto"/>
                <a:ea typeface="Roboto"/>
                <a:cs typeface="Roboto"/>
                <a:sym typeface="Roboto"/>
              </a:rPr>
              <a:t>Trust &amp; Certification: In aerospace and defense, tools must be certified. An AI that "hallucinates" a design could cause catastrophic failures. Who certifies your AI? Why would an engineer trust its output over their own expertise or established standards?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startAt="9"/>
            </a:pPr>
            <a:r>
              <a:rPr lang="en" sz="1200">
                <a:solidFill>
                  <a:srgbClr val="0F1115"/>
                </a:solidFill>
                <a:highlight>
                  <a:srgbClr val="FFFFFF"/>
                </a:highlight>
                <a:latin typeface="Roboto"/>
                <a:ea typeface="Roboto"/>
                <a:cs typeface="Roboto"/>
                <a:sym typeface="Roboto"/>
              </a:rPr>
              <a:t>Solves the Wrong Problem: The biggest pain point is not "I can't generate a bracket." It's "I can't find the bracket we already designed last year" and "I don't know if this bracket is used in other critical assemblies." A Copilot generates </a:t>
            </a:r>
            <a:r>
              <a:rPr i="1" lang="en" sz="1200">
                <a:solidFill>
                  <a:srgbClr val="0F1115"/>
                </a:solidFill>
                <a:highlight>
                  <a:srgbClr val="FFFFFF"/>
                </a:highlight>
                <a:latin typeface="Roboto"/>
                <a:ea typeface="Roboto"/>
                <a:cs typeface="Roboto"/>
                <a:sym typeface="Roboto"/>
              </a:rPr>
              <a:t>new</a:t>
            </a:r>
            <a:r>
              <a:rPr lang="en" sz="1200">
                <a:solidFill>
                  <a:srgbClr val="0F1115"/>
                </a:solidFill>
                <a:highlight>
                  <a:srgbClr val="FFFFFF"/>
                </a:highlight>
                <a:latin typeface="Roboto"/>
                <a:ea typeface="Roboto"/>
                <a:cs typeface="Roboto"/>
                <a:sym typeface="Roboto"/>
              </a:rPr>
              <a:t> things. A data platform helps you </a:t>
            </a:r>
            <a:r>
              <a:rPr i="1" lang="en" sz="1200">
                <a:solidFill>
                  <a:srgbClr val="0F1115"/>
                </a:solidFill>
                <a:highlight>
                  <a:srgbClr val="FFFFFF"/>
                </a:highlight>
                <a:latin typeface="Roboto"/>
                <a:ea typeface="Roboto"/>
                <a:cs typeface="Roboto"/>
                <a:sym typeface="Roboto"/>
              </a:rPr>
              <a:t>manage and reuse</a:t>
            </a:r>
            <a:r>
              <a:rPr lang="en" sz="1200">
                <a:solidFill>
                  <a:srgbClr val="0F1115"/>
                </a:solidFill>
                <a:highlight>
                  <a:srgbClr val="FFFFFF"/>
                </a:highlight>
                <a:latin typeface="Roboto"/>
                <a:ea typeface="Roboto"/>
                <a:cs typeface="Roboto"/>
                <a:sym typeface="Roboto"/>
              </a:rPr>
              <a:t> existing things. Reuse is infinitely more valuable than generation.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startAt="9"/>
            </a:pPr>
            <a:r>
              <a:rPr lang="en" sz="1200">
                <a:solidFill>
                  <a:srgbClr val="0F1115"/>
                </a:solidFill>
                <a:highlight>
                  <a:srgbClr val="FFFFFF"/>
                </a:highlight>
                <a:latin typeface="Roboto"/>
                <a:ea typeface="Roboto"/>
                <a:cs typeface="Roboto"/>
                <a:sym typeface="Roboto"/>
              </a:rPr>
              <a:t>Workflow Disruption: It adds another tool to the engineer's screen. It doesn't streamline their existing NX workflow; it creates a parallel process that they have to constantly context-switch into.</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82"/>
          <p:cNvSpPr txBox="1"/>
          <p:nvPr/>
        </p:nvSpPr>
        <p:spPr>
          <a:xfrm>
            <a:off x="708175" y="1704275"/>
            <a:ext cx="7929900" cy="187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Conclusion: The Fatal Flaw</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fatal flaw of the "3D Copilot to beat NX" idea is that it mistakes a feature for a product. AI Copilot </a:t>
            </a:r>
            <a:r>
              <a:rPr i="1" lang="en" sz="1200">
                <a:solidFill>
                  <a:srgbClr val="0F1115"/>
                </a:solidFill>
                <a:highlight>
                  <a:srgbClr val="FFFFFF"/>
                </a:highlight>
                <a:latin typeface="Roboto"/>
                <a:ea typeface="Roboto"/>
                <a:cs typeface="Roboto"/>
                <a:sym typeface="Roboto"/>
              </a:rPr>
              <a:t>is</a:t>
            </a:r>
            <a:r>
              <a:rPr lang="en" sz="1200">
                <a:solidFill>
                  <a:srgbClr val="0F1115"/>
                </a:solidFill>
                <a:highlight>
                  <a:srgbClr val="FFFFFF"/>
                </a:highlight>
                <a:latin typeface="Roboto"/>
                <a:ea typeface="Roboto"/>
                <a:cs typeface="Roboto"/>
                <a:sym typeface="Roboto"/>
              </a:rPr>
              <a:t> a feature. It will be a built-in, standard feature of NX, CATIA, and SOLIDWORKS within 2-3 years.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Trying to build your own is like seeing the first car and deciding to build a better horse. You're competing against the future, on a battlefield chosen by your strongest competitors. It is a naive and strategically disastrous choice. Your focus on the data platform is the only path that leads to a defensible competitive advantage.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83"/>
          <p:cNvSpPr txBox="1"/>
          <p:nvPr/>
        </p:nvSpPr>
        <p:spPr>
          <a:xfrm>
            <a:off x="3680950" y="23113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Fundamental Issues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84"/>
          <p:cNvSpPr txBox="1"/>
          <p:nvPr/>
        </p:nvSpPr>
        <p:spPr>
          <a:xfrm>
            <a:off x="574825" y="1015275"/>
            <a:ext cx="7577100" cy="2993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Geometry Data Abyss (It's So Much Worse Than Splitting Files)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"Dumb Geometry" Problem: You can convert a STEP file into a mesh or point cloud. But you've just turned a smart, parametric feature (e.g., "Extrude-Cut with a 10mm diameter") into a dumb, stupid bunch of triangles. The AI now has to </a:t>
            </a:r>
            <a:r>
              <a:rPr i="1" lang="en" sz="1200">
                <a:solidFill>
                  <a:srgbClr val="0F1115"/>
                </a:solidFill>
                <a:highlight>
                  <a:srgbClr val="FFFFFF"/>
                </a:highlight>
                <a:latin typeface="Roboto"/>
                <a:ea typeface="Roboto"/>
                <a:cs typeface="Roboto"/>
                <a:sym typeface="Roboto"/>
              </a:rPr>
              <a:t>guess</a:t>
            </a:r>
            <a:r>
              <a:rPr lang="en" sz="1200">
                <a:solidFill>
                  <a:srgbClr val="0F1115"/>
                </a:solidFill>
                <a:highlight>
                  <a:srgbClr val="FFFFFF"/>
                </a:highlight>
                <a:latin typeface="Roboto"/>
                <a:ea typeface="Roboto"/>
                <a:cs typeface="Roboto"/>
                <a:sym typeface="Roboto"/>
              </a:rPr>
              <a:t> that this group of triangles is a "hole." This is called geometric feature recognition and is a PhD-level computer vision problem. It is not solved.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Precision Problem: Engineering is built on precision. An AI that generates a hole that is "roughly 6mm" is worse than useless. It's dangerous. How do you ensure the AI's output is not just visually plausible but dimensionally and tolerantly perfect for manufacturing?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Topology Problem: A "hole" isn't just a hole. Is it a blind hole? A through hole? A counterbored hole? A tapped hole? Each has vastly different geometric representations and manufacturing processes. The AI must not just generate shapes, it must understand design intent and manufacturing constraints.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85"/>
          <p:cNvSpPr txBox="1"/>
          <p:nvPr/>
        </p:nvSpPr>
        <p:spPr>
          <a:xfrm>
            <a:off x="1126800" y="1037700"/>
            <a:ext cx="6890400" cy="3206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The NLP Illusion (Linking Words to Shapes is a Joke)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Ambiguity Hell: "Make a strong hole."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Does that mean make the hole itself stronger (impossible)?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Does it mean make the part stronger by adding a hole in the right spot to reduce stress?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Does it mean use a stronger material around the hole?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Natural language is hopelessly ambiguous for precision engineering.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Context Black Hole: The command "add an M6 hole" is meaningless without context.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Where? On which face?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deep? To what tolerance?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For what purpose? To clear a bolt? To vent pressure? To reduce weight?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AI needs the entire context of the assembly, the forces involved, and the manufacturing capabilities to even begin. It doesn't have it.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86"/>
          <p:cNvSpPr txBox="1"/>
          <p:nvPr/>
        </p:nvSpPr>
        <p:spPr>
          <a:xfrm>
            <a:off x="1507950" y="1448250"/>
            <a:ext cx="6248400" cy="235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a:t>
            </a:r>
            <a:r>
              <a:rPr b="1" lang="en" sz="1500">
                <a:solidFill>
                  <a:srgbClr val="0F1115"/>
                </a:solidFill>
                <a:highlight>
                  <a:srgbClr val="FFFFFF"/>
                </a:highlight>
                <a:latin typeface="Roboto"/>
                <a:ea typeface="Roboto"/>
                <a:cs typeface="Roboto"/>
                <a:sym typeface="Roboto"/>
              </a:rPr>
              <a:t>. The Data Fidelity Nightmare (The Training Data Doesn't Exist)</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Have No Labeled Data: To train an AI to "understand" a hole, you need millions of 3D models where every single hole is perfectly labeled with its type, diameter, depth, tolerance, and purpose. This data does not exist. It would take an army of engineers centuries to create it manually.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Synthetic Data is a Lie: You can generate synthetic holes on synthetic parts. But the AI will only learn to recognize synthetic holes. It will be useless on the messy, complex, real-world geometries from your actual projects. This is called the simulation-to-reality gap.</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87"/>
          <p:cNvSpPr txBox="1"/>
          <p:nvPr/>
        </p:nvSpPr>
        <p:spPr>
          <a:xfrm>
            <a:off x="1347000" y="1590075"/>
            <a:ext cx="6450000" cy="214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The Integration Monster (The CAD Kernel Prison)</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CAD Software is a Walled Garden: NX, SOLIDWORKS, CATIA—they all have their own proprietary geometric kernels (Parasolid, ACIS, CGM). You can't just push AI-generated geometry into them. The AI's output would be a "dumb" mesh that can't be edited parametrically. It would break the entire CAD workflow.</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You're Building a Island: Any AI tool you build would exist </a:t>
            </a:r>
            <a:r>
              <a:rPr i="1" lang="en" sz="1200">
                <a:solidFill>
                  <a:srgbClr val="0F1115"/>
                </a:solidFill>
                <a:highlight>
                  <a:srgbClr val="FFFFFF"/>
                </a:highlight>
                <a:latin typeface="Roboto"/>
                <a:ea typeface="Roboto"/>
                <a:cs typeface="Roboto"/>
                <a:sym typeface="Roboto"/>
              </a:rPr>
              <a:t>outside</a:t>
            </a:r>
            <a:r>
              <a:rPr lang="en" sz="1200">
                <a:solidFill>
                  <a:srgbClr val="0F1115"/>
                </a:solidFill>
                <a:highlight>
                  <a:srgbClr val="FFFFFF"/>
                </a:highlight>
                <a:latin typeface="Roboto"/>
                <a:ea typeface="Roboto"/>
                <a:cs typeface="Roboto"/>
                <a:sym typeface="Roboto"/>
              </a:rPr>
              <a:t> the engineer's primary CAD system. They would have to constantly switch windows, breaking their flow and ensuring the tool never gets used.</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88"/>
          <p:cNvSpPr txBox="1"/>
          <p:nvPr/>
        </p:nvSpPr>
        <p:spPr>
          <a:xfrm>
            <a:off x="1313875" y="1818300"/>
            <a:ext cx="6584400" cy="1506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5. The Liability Apocalypse (Who Gets Sued?)</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Who signs off on the AI's design? The engineer. So the engineer will have to completely check and validate every single AI output before using it. This destroys any supposed time savings and adds immense legal and professional risk. If the AI-generated hole fails and a plane crashes, ST Engineering is liable, not the AI.</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89"/>
          <p:cNvSpPr txBox="1"/>
          <p:nvPr/>
        </p:nvSpPr>
        <p:spPr>
          <a:xfrm>
            <a:off x="233450" y="997950"/>
            <a:ext cx="8824800" cy="3147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Alternative Perspective: The Right Way to "Win"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goal isn't to build a </a:t>
            </a:r>
            <a:r>
              <a:rPr i="1" lang="en" sz="1200">
                <a:solidFill>
                  <a:srgbClr val="0F1115"/>
                </a:solidFill>
                <a:highlight>
                  <a:srgbClr val="FFFFFF"/>
                </a:highlight>
                <a:latin typeface="Roboto"/>
                <a:ea typeface="Roboto"/>
                <a:cs typeface="Roboto"/>
                <a:sym typeface="Roboto"/>
              </a:rPr>
              <a:t>better NX</a:t>
            </a:r>
            <a:r>
              <a:rPr lang="en" sz="1200">
                <a:solidFill>
                  <a:srgbClr val="0F1115"/>
                </a:solidFill>
                <a:highlight>
                  <a:srgbClr val="FFFFFF"/>
                </a:highlight>
                <a:latin typeface="Roboto"/>
                <a:ea typeface="Roboto"/>
                <a:cs typeface="Roboto"/>
                <a:sym typeface="Roboto"/>
              </a:rPr>
              <a:t>. The goal is to make </a:t>
            </a:r>
            <a:r>
              <a:rPr i="1" lang="en" sz="1200">
                <a:solidFill>
                  <a:srgbClr val="0F1115"/>
                </a:solidFill>
                <a:highlight>
                  <a:srgbClr val="FFFFFF"/>
                </a:highlight>
                <a:latin typeface="Roboto"/>
                <a:ea typeface="Roboto"/>
                <a:cs typeface="Roboto"/>
                <a:sym typeface="Roboto"/>
              </a:rPr>
              <a:t>your engineers</a:t>
            </a:r>
            <a:r>
              <a:rPr lang="en" sz="1200">
                <a:solidFill>
                  <a:srgbClr val="0F1115"/>
                </a:solidFill>
                <a:highlight>
                  <a:srgbClr val="FFFFFF"/>
                </a:highlight>
                <a:latin typeface="Roboto"/>
                <a:ea typeface="Roboto"/>
                <a:cs typeface="Roboto"/>
                <a:sym typeface="Roboto"/>
              </a:rPr>
              <a:t> better </a:t>
            </a:r>
            <a:r>
              <a:rPr i="1" lang="en" sz="1200">
                <a:solidFill>
                  <a:srgbClr val="0F1115"/>
                </a:solidFill>
                <a:highlight>
                  <a:srgbClr val="FFFFFF"/>
                </a:highlight>
                <a:latin typeface="Roboto"/>
                <a:ea typeface="Roboto"/>
                <a:cs typeface="Roboto"/>
                <a:sym typeface="Roboto"/>
              </a:rPr>
              <a:t>using</a:t>
            </a:r>
            <a:r>
              <a:rPr lang="en" sz="1200">
                <a:solidFill>
                  <a:srgbClr val="0F1115"/>
                </a:solidFill>
                <a:highlight>
                  <a:srgbClr val="FFFFFF"/>
                </a:highlight>
                <a:latin typeface="Roboto"/>
                <a:ea typeface="Roboto"/>
                <a:cs typeface="Roboto"/>
                <a:sym typeface="Roboto"/>
              </a:rPr>
              <a:t> NX and all other tools.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Don't fight them, complement them. Build the 3D Data Platform that sits </a:t>
            </a:r>
            <a:r>
              <a:rPr i="1" lang="en" sz="1200">
                <a:solidFill>
                  <a:srgbClr val="0F1115"/>
                </a:solidFill>
                <a:highlight>
                  <a:srgbClr val="FFFFFF"/>
                </a:highlight>
                <a:latin typeface="Roboto"/>
                <a:ea typeface="Roboto"/>
                <a:cs typeface="Roboto"/>
                <a:sym typeface="Roboto"/>
              </a:rPr>
              <a:t>above</a:t>
            </a:r>
            <a:r>
              <a:rPr lang="en" sz="1200">
                <a:solidFill>
                  <a:srgbClr val="0F1115"/>
                </a:solidFill>
                <a:highlight>
                  <a:srgbClr val="FFFFFF"/>
                </a:highlight>
                <a:latin typeface="Roboto"/>
                <a:ea typeface="Roboto"/>
                <a:cs typeface="Roboto"/>
                <a:sym typeface="Roboto"/>
              </a:rPr>
              <a:t> all CAD systems (NX, SOLIDWORKS, etc.).</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platform's "AI" should be hyper-specialized for </a:t>
            </a:r>
            <a:r>
              <a:rPr i="1" lang="en" sz="1200">
                <a:solidFill>
                  <a:srgbClr val="0F1115"/>
                </a:solidFill>
                <a:highlight>
                  <a:srgbClr val="FFFFFF"/>
                </a:highlight>
                <a:latin typeface="Roboto"/>
                <a:ea typeface="Roboto"/>
                <a:cs typeface="Roboto"/>
                <a:sym typeface="Roboto"/>
              </a:rPr>
              <a:t>your</a:t>
            </a:r>
            <a:r>
              <a:rPr lang="en" sz="1200">
                <a:solidFill>
                  <a:srgbClr val="0F1115"/>
                </a:solidFill>
                <a:highlight>
                  <a:srgbClr val="FFFFFF"/>
                </a:highlight>
                <a:latin typeface="Roboto"/>
                <a:ea typeface="Roboto"/>
                <a:cs typeface="Roboto"/>
                <a:sym typeface="Roboto"/>
              </a:rPr>
              <a:t> company's needs. For example: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An AI that knows your specific design standards and flags non-compliant parts.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An AI that suggests parts from your </a:t>
            </a:r>
            <a:r>
              <a:rPr i="1" lang="en" sz="1200">
                <a:solidFill>
                  <a:srgbClr val="0F1115"/>
                </a:solidFill>
                <a:highlight>
                  <a:srgbClr val="FFFFFF"/>
                </a:highlight>
                <a:latin typeface="Roboto"/>
                <a:ea typeface="Roboto"/>
                <a:cs typeface="Roboto"/>
                <a:sym typeface="Roboto"/>
              </a:rPr>
              <a:t>own</a:t>
            </a:r>
            <a:r>
              <a:rPr lang="en" sz="1200">
                <a:solidFill>
                  <a:srgbClr val="0F1115"/>
                </a:solidFill>
                <a:highlight>
                  <a:srgbClr val="FFFFFF"/>
                </a:highlight>
                <a:latin typeface="Roboto"/>
                <a:ea typeface="Roboto"/>
                <a:cs typeface="Roboto"/>
                <a:sym typeface="Roboto"/>
              </a:rPr>
              <a:t> approved library, not generates new ones.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An AI that predicts supply chain risks based on your </a:t>
            </a:r>
            <a:r>
              <a:rPr i="1" lang="en" sz="1200">
                <a:solidFill>
                  <a:srgbClr val="0F1115"/>
                </a:solidFill>
                <a:highlight>
                  <a:srgbClr val="FFFFFF"/>
                </a:highlight>
                <a:latin typeface="Roboto"/>
                <a:ea typeface="Roboto"/>
                <a:cs typeface="Roboto"/>
                <a:sym typeface="Roboto"/>
              </a:rPr>
              <a:t>own</a:t>
            </a:r>
            <a:r>
              <a:rPr lang="en" sz="1200">
                <a:solidFill>
                  <a:srgbClr val="0F1115"/>
                </a:solidFill>
                <a:highlight>
                  <a:srgbClr val="FFFFFF"/>
                </a:highlight>
                <a:latin typeface="Roboto"/>
                <a:ea typeface="Roboto"/>
                <a:cs typeface="Roboto"/>
                <a:sym typeface="Roboto"/>
              </a:rPr>
              <a:t> procurement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 a winning strategy because: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leverages your unique asset: your proprietary engineering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solves your actual business problems (findability, reuse, compliance).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doesn't require you to beat Siemens at their own game.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works with your existing tools, making adoption easier.</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90"/>
          <p:cNvSpPr txBox="1"/>
          <p:nvPr/>
        </p:nvSpPr>
        <p:spPr>
          <a:xfrm>
            <a:off x="3680950" y="23113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Siemens</a:t>
            </a:r>
            <a:r>
              <a:rPr lang="en" sz="1200">
                <a:solidFill>
                  <a:srgbClr val="0F1115"/>
                </a:solidFill>
                <a:highlight>
                  <a:srgbClr val="FFFFFF"/>
                </a:highlight>
                <a:latin typeface="Roboto"/>
                <a:ea typeface="Roboto"/>
                <a:cs typeface="Roboto"/>
                <a:sym typeface="Roboto"/>
              </a:rPr>
              <a:t> NX Origin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91"/>
          <p:cNvSpPr txBox="1"/>
          <p:nvPr/>
        </p:nvSpPr>
        <p:spPr>
          <a:xfrm>
            <a:off x="44775" y="425525"/>
            <a:ext cx="8935800" cy="393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story of Siemens NX is not the story of an internal tool that became a product. It is the story of aggressive acquisition and integration by a industrial giant.</a:t>
            </a:r>
            <a:endParaRPr sz="1200">
              <a:solidFill>
                <a:srgbClr val="0F1115"/>
              </a:solidFill>
              <a:highlight>
                <a:srgbClr val="FFFFFF"/>
              </a:highlight>
              <a:latin typeface="Roboto"/>
              <a:ea typeface="Roboto"/>
              <a:cs typeface="Roboto"/>
              <a:sym typeface="Roboto"/>
            </a:endParaRPr>
          </a:p>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Actual History of Siemens NX:</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It Was Not Born In-House: Siemens did not originally build a CAD tool for its own use and then sell it. The core of what is now NX came from external acquisitions.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Unigraphics: The foundation was the Unigraphics system, developed by McDonnell Douglas (an aerospace company). This was already a commercial product.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Acquisition Spree: Siemens AG, through its Siemens Digital Industries Software division, went on a decades-long acquisition spree to build its portfolio:</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acquired Unigraphics (becoming UGS Corp).</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acquired IDEAS from SDRC.</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acquired Teamcenter (a PLM system).</a:t>
            </a:r>
            <a:endParaRPr sz="1200">
              <a:solidFill>
                <a:srgbClr val="0F1115"/>
              </a:solidFill>
              <a:highlight>
                <a:srgbClr val="FFFFFF"/>
              </a:highlight>
              <a:latin typeface="Roboto"/>
              <a:ea typeface="Roboto"/>
              <a:cs typeface="Roboto"/>
              <a:sym typeface="Roboto"/>
            </a:endParaRPr>
          </a:p>
          <a:p>
            <a:pPr indent="-304800" lvl="2" marL="13716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acquired Mentor Graphics (for electronic design).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Integration, Not Invention: Siemens' masterstroke was integrating these acquired products (CAD, CAE, CAM, PLM) into a cohesive suite (now called the Xcelerator platform), not building them from scratch for internal use.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92"/>
          <p:cNvSpPr txBox="1"/>
          <p:nvPr/>
        </p:nvSpPr>
        <p:spPr>
          <a:xfrm>
            <a:off x="66750" y="188250"/>
            <a:ext cx="9010500" cy="4767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Why This History Matters for Your Argument: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history completely undermines your teammate's "build a Copilot" plan and validates your "build a platform" plan.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1. Siemens Had a Different Goal and Capability: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Siemens's Goal: To become a dominant software vendor and sell tools to manufacturers. This was a strategic business unit from the start.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Siemens's Capability: They are a $80+ billion global tech and industrial conglomerate. They could afford to spend billions on acquisitions and R&amp;D over decades. ST Engineering is not in the software business and cannot afford this arms race.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2. The "Solve It Own Itself" Myth: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Did Siemens use its own tools? Absolutely. But they were using tools they acquired (like Unigraphics) and then improved them. They were a customer </a:t>
            </a:r>
            <a:r>
              <a:rPr i="1" lang="en" sz="1200">
                <a:solidFill>
                  <a:srgbClr val="0F1115"/>
                </a:solidFill>
                <a:highlight>
                  <a:srgbClr val="FFFFFF"/>
                </a:highlight>
                <a:latin typeface="Roboto"/>
                <a:ea typeface="Roboto"/>
                <a:cs typeface="Roboto"/>
                <a:sym typeface="Roboto"/>
              </a:rPr>
              <a:t>and</a:t>
            </a:r>
            <a:r>
              <a:rPr lang="en" sz="1200">
                <a:solidFill>
                  <a:srgbClr val="0F1115"/>
                </a:solidFill>
                <a:highlight>
                  <a:srgbClr val="FFFFFF"/>
                </a:highlight>
                <a:latin typeface="Roboto"/>
                <a:ea typeface="Roboto"/>
                <a:cs typeface="Roboto"/>
                <a:sym typeface="Roboto"/>
              </a:rPr>
              <a:t> a vendor simultaneously.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key is they had a software division with a commercial mandate. ST Engineering does not have this. Building a Copilot would require creating an entire software business from scratch, which is a radically different competency.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3. The Market is Now Mature and Closed: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CAD/PLM market is now a winner-take-most oligopoly dominated by Siemens, Dassault, and Autodesk. The window for a new competitor to enter with a general-purpose CAD tool is completely closed. The barriers to entry (technical, financial, and ecosystem-based) are insurmountable.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93"/>
          <p:cNvSpPr txBox="1"/>
          <p:nvPr/>
        </p:nvSpPr>
        <p:spPr>
          <a:xfrm>
            <a:off x="89575" y="406975"/>
            <a:ext cx="8883600" cy="3030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ST Engineering Playbook: Learn from History, Don't Repeat It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correct lesson from Siemens' history is not "build a tool and sell it." The correct lesson is: "Solve your own problems with a platform so effective that it becomes a strategic asset."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There are two paths from there, both more viable than building a Copilot: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Path A: The "Internal Dominance" Path</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You build the 3D Data Platform to solve ST Engineering's own efficiency problems. The value is captured entirely internally through massive productivity gains, risk reduction, and accelerated time-to-market. This is a huge win on its own.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Path B: The "Specialized Spin-Out" Path</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This is the modern version of the Siemens playbook. Once you have built a powerful platform that solves a critical, niche problem for yourself (e.g., "Managing 3D Data for Aerospace MRO"), you may discover that:</a:t>
            </a:r>
            <a:endParaRPr sz="1200">
              <a:solidFill>
                <a:srgbClr val="0F1115"/>
              </a:solidFill>
              <a:highlight>
                <a:srgbClr val="FFFFFF"/>
              </a:highlight>
              <a:latin typeface="Roboto"/>
              <a:ea typeface="Roboto"/>
              <a:cs typeface="Roboto"/>
              <a:sym typeface="Roboto"/>
            </a:endParaRPr>
          </a:p>
        </p:txBody>
      </p:sp>
      <p:sp>
        <p:nvSpPr>
          <p:cNvPr id="455" name="Google Shape;455;p93"/>
          <p:cNvSpPr txBox="1"/>
          <p:nvPr/>
        </p:nvSpPr>
        <p:spPr>
          <a:xfrm>
            <a:off x="1045150" y="3575800"/>
            <a:ext cx="7136700" cy="581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problem is universal for other companies in your industry.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solution is unique and superior because it's built by engineers for engineers.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94"/>
          <p:cNvSpPr txBox="1"/>
          <p:nvPr/>
        </p:nvSpPr>
        <p:spPr>
          <a:xfrm>
            <a:off x="596850" y="1933475"/>
            <a:ext cx="7950300" cy="137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At that point, you could productize and spin out the platform as a specialized SaaS company targeting </a:t>
            </a:r>
            <a:r>
              <a:rPr i="1" lang="en" sz="1200">
                <a:solidFill>
                  <a:srgbClr val="0F1115"/>
                </a:solidFill>
                <a:highlight>
                  <a:srgbClr val="FFFFFF"/>
                </a:highlight>
                <a:latin typeface="Roboto"/>
                <a:ea typeface="Roboto"/>
                <a:cs typeface="Roboto"/>
                <a:sym typeface="Roboto"/>
              </a:rPr>
              <a:t>only</a:t>
            </a:r>
            <a:r>
              <a:rPr lang="en" sz="1200">
                <a:solidFill>
                  <a:srgbClr val="0F1115"/>
                </a:solidFill>
                <a:highlight>
                  <a:srgbClr val="FFFFFF"/>
                </a:highlight>
                <a:latin typeface="Roboto"/>
                <a:ea typeface="Roboto"/>
                <a:cs typeface="Roboto"/>
                <a:sym typeface="Roboto"/>
              </a:rPr>
              <a:t> aerospace and defense MRO. This is a viable path because: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are not competing with Siemens head-on. You are solving a specific, high-value problem they ignore.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have a built-in reference customer: ST Engineering.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leverage your domain expertise, which is your true competitive advantage.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95"/>
          <p:cNvSpPr txBox="1"/>
          <p:nvPr/>
        </p:nvSpPr>
        <p:spPr>
          <a:xfrm>
            <a:off x="734850" y="1595850"/>
            <a:ext cx="7674300" cy="195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"Siemens became a giant by acquiring existing software companies and integrating them. We are not Siemens, and we are not going to become a software company.</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Our strength is our engineering domain expertise, not our ability to build generic AI tools. Our winning strategy is to build a platform that makes our engineers the most efficient in the world by leveraging our unique data.</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If, in the future, that platform is so good that it becomes a product we can sell to other companies like us, that's a bonus. But the goal is to win in aerospace and defense, not to win in software sales against NVIDIA and Siemens."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96"/>
          <p:cNvSpPr txBox="1"/>
          <p:nvPr/>
        </p:nvSpPr>
        <p:spPr>
          <a:xfrm>
            <a:off x="3203075" y="16170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Why ST Engineering is positioned</a:t>
            </a:r>
            <a:endParaRPr/>
          </a:p>
        </p:txBody>
      </p:sp>
      <p:sp>
        <p:nvSpPr>
          <p:cNvPr id="471" name="Google Shape;471;p96"/>
          <p:cNvSpPr txBox="1"/>
          <p:nvPr/>
        </p:nvSpPr>
        <p:spPr>
          <a:xfrm>
            <a:off x="1261600" y="3098075"/>
            <a:ext cx="6509700" cy="114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reason "AI Copilot" idea fails is because it tries to beat Siemens at its own game. The reason"Data Platform" idea wins is because it leverages ST Engineering's unique, unassailable advantages that Siemens cannot replicate.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97"/>
          <p:cNvSpPr txBox="1"/>
          <p:nvPr/>
        </p:nvSpPr>
        <p:spPr>
          <a:xfrm>
            <a:off x="0" y="1104850"/>
            <a:ext cx="9100200" cy="3089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Asset Advantage: You Own the "Gold Mine"</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Siemens sells shovels. ST Engineering owns the gold mine.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Siemens (The Shovel Seller): Has vast, shallow data from thousands of companies across different industries. Their data is generalized and lacks deep, proprietary context.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 Engineering (The Gold Miner): Owns a deep, rich, and vertical-specific dataset that is arguably one of the most valuable in the world: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Decades of Aerospace &amp; Defense Design Data: From commercial aircraft to defense systems.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Operational &amp; Maintenance Data: Real-world data on how those designs perform over years and decades in the field.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Manufacturing Process Data: Knowledge of how to actually build and assemble these complex systems.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Why this matters: You can train AI models and build platforms on data that is higher fidelity, more specific, and more valuable than any generic dataset Siemens can access. Your platform will be smarter </a:t>
            </a:r>
            <a:r>
              <a:rPr i="1" lang="en" sz="1200">
                <a:solidFill>
                  <a:srgbClr val="0F1115"/>
                </a:solidFill>
                <a:highlight>
                  <a:srgbClr val="FFFFFF"/>
                </a:highlight>
                <a:latin typeface="Roboto"/>
                <a:ea typeface="Roboto"/>
                <a:cs typeface="Roboto"/>
                <a:sym typeface="Roboto"/>
              </a:rPr>
              <a:t>for your domain</a:t>
            </a:r>
            <a:r>
              <a:rPr lang="en" sz="1200">
                <a:solidFill>
                  <a:srgbClr val="0F1115"/>
                </a:solidFill>
                <a:highlight>
                  <a:srgbClr val="FFFFFF"/>
                </a:highlight>
                <a:latin typeface="Roboto"/>
                <a:ea typeface="Roboto"/>
                <a:cs typeface="Roboto"/>
                <a:sym typeface="Roboto"/>
              </a:rPr>
              <a:t> because it learns from the best source.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98"/>
          <p:cNvSpPr txBox="1"/>
          <p:nvPr/>
        </p:nvSpPr>
        <p:spPr>
          <a:xfrm>
            <a:off x="776375" y="1328800"/>
            <a:ext cx="7457700" cy="266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The Problem-Solution Fit Advantage: You Feel the Pain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are building a solution for a problem you feel acutely every single day.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Siemens tries to build generic solutions for "every manufacturer." They cannot understand the specific pain of an A380-style data integration nightmare at the same visceral level you do.</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 Engineering is the primary user. You are building a solution for yourself, first. This ensures it solves real problems, not hypothetical ones. This is called "dogfooding" and is the number one predictor of a successful platform.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Why this matters: The platform will be ruthlessly practical and effective because its success is measured by its ability to improve your own efficiency and bottom line.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99"/>
          <p:cNvSpPr txBox="1"/>
          <p:nvPr/>
        </p:nvSpPr>
        <p:spPr>
          <a:xfrm>
            <a:off x="85500" y="1170300"/>
            <a:ext cx="8973000" cy="2802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The Vertical Integration Advantage: You Control the Entire Stack</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ST Engineering isn't just a design house. You design, build, operate, and maintain some of the most complex systems in the world.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gives you the unique ability to close the loop.</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Design -&gt; Build -&gt; Maintain -&gt; Learn -&gt; Redesign.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Siemens tool might see the "Design" phase. Your platform can connect data from all phases. You can see that a specific bracket design consistently fails after 5 years of service and automatically flag it for redesign in the next iteration.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Why this matters: This creates a virtuous cycle of improvement that external software vendors cannot access. Your platform becomes smarter with every product cycle because it learns from real-world performance.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100"/>
          <p:cNvSpPr txBox="1"/>
          <p:nvPr/>
        </p:nvSpPr>
        <p:spPr>
          <a:xfrm>
            <a:off x="294450" y="1209350"/>
            <a:ext cx="8555100" cy="245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The Strategic Imperative Advantage: This is About Survival</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For Siemens, better software means higher revenue. For ST Engineering, a better platform is a strategic moat that defines your long-term competitiveness.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makes you faster: Reduce time-to-market for new products.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makes you cheaper: Eliminate wasteful redesign and streamline manufacturing.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makes you more reliable: Build on a foundation of proven, reusable components.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Why this matters: The ROI isn't just in software licensing fees; it's in the survival and dominance of your core business. This alignment of mission makes the project existential, not experimental.</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01"/>
          <p:cNvSpPr txBox="1"/>
          <p:nvPr/>
        </p:nvSpPr>
        <p:spPr>
          <a:xfrm>
            <a:off x="515100" y="1000350"/>
            <a:ext cx="8211600" cy="3243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Final Verdict: The Right to Win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ST Engineering has the right to win in this space not by building a better </a:t>
            </a:r>
            <a:r>
              <a:rPr i="1" lang="en" sz="1200">
                <a:solidFill>
                  <a:srgbClr val="0F1115"/>
                </a:solidFill>
                <a:highlight>
                  <a:srgbClr val="FFFFFF"/>
                </a:highlight>
                <a:latin typeface="Roboto"/>
                <a:ea typeface="Roboto"/>
                <a:cs typeface="Roboto"/>
                <a:sym typeface="Roboto"/>
              </a:rPr>
              <a:t>shovel</a:t>
            </a:r>
            <a:r>
              <a:rPr lang="en" sz="1200">
                <a:solidFill>
                  <a:srgbClr val="0F1115"/>
                </a:solidFill>
                <a:highlight>
                  <a:srgbClr val="FFFFFF"/>
                </a:highlight>
                <a:latin typeface="Roboto"/>
                <a:ea typeface="Roboto"/>
                <a:cs typeface="Roboto"/>
                <a:sym typeface="Roboto"/>
              </a:rPr>
              <a:t>, but by being the best </a:t>
            </a:r>
            <a:r>
              <a:rPr i="1" lang="en" sz="1200">
                <a:solidFill>
                  <a:srgbClr val="0F1115"/>
                </a:solidFill>
                <a:highlight>
                  <a:srgbClr val="FFFFFF"/>
                </a:highlight>
                <a:latin typeface="Roboto"/>
                <a:ea typeface="Roboto"/>
                <a:cs typeface="Roboto"/>
                <a:sym typeface="Roboto"/>
              </a:rPr>
              <a:t>miner</a:t>
            </a:r>
            <a:r>
              <a:rPr lang="en" sz="1200">
                <a:solidFill>
                  <a:srgbClr val="0F1115"/>
                </a:solidFill>
                <a:highlight>
                  <a:srgbClr val="FFFFFF"/>
                </a:highlight>
                <a:latin typeface="Roboto"/>
                <a:ea typeface="Roboto"/>
                <a:cs typeface="Roboto"/>
                <a:sym typeface="Roboto"/>
              </a:rPr>
              <a:t> and then selling access to your refined </a:t>
            </a:r>
            <a:r>
              <a:rPr i="1" lang="en" sz="1200">
                <a:solidFill>
                  <a:srgbClr val="0F1115"/>
                </a:solidFill>
                <a:highlight>
                  <a:srgbClr val="FFFFFF"/>
                </a:highlight>
                <a:latin typeface="Roboto"/>
                <a:ea typeface="Roboto"/>
                <a:cs typeface="Roboto"/>
                <a:sym typeface="Roboto"/>
              </a:rPr>
              <a:t>gold</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platform wins because it is: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Built on proprietary data others cannot access. (Asset Advantage)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Designed to solve real, acute pain points you experience daily. (Problem-Solution Fit)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Connected to the full lifecycle of a product, from design to retirement. (Vertical Integration)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Essential for maintaining competitive advantage in your core business. (Strategic Imperative)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teammate's idea of building a Copilot is a distraction. Your vision for a data platform is a strategic masterstroke that leverages every single one of ST Engineering's inherent strengths. This is not just a good idea; it is the obvious and necessary evolution of a modern engineering powerhouse.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02"/>
          <p:cNvSpPr txBox="1"/>
          <p:nvPr/>
        </p:nvSpPr>
        <p:spPr>
          <a:xfrm>
            <a:off x="3621125" y="23871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Siemens Strength</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03"/>
          <p:cNvSpPr txBox="1"/>
          <p:nvPr/>
        </p:nvSpPr>
        <p:spPr>
          <a:xfrm>
            <a:off x="570600" y="1074900"/>
            <a:ext cx="8002800" cy="2993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"Hire an Expert" Fallacy</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One Expert vs. an Army: Siemens doesn't just have 100 experts. They have entire divisions dedicated to this. They have thousands of software engineers, PhDs in computational geometry, and massive datasets you can never access. Your one expert would be spending all their time just </a:t>
            </a:r>
            <a:r>
              <a:rPr i="1" lang="en" sz="1200">
                <a:solidFill>
                  <a:srgbClr val="0F1115"/>
                </a:solidFill>
                <a:highlight>
                  <a:srgbClr val="FFFFFF"/>
                </a:highlight>
                <a:latin typeface="Roboto"/>
                <a:ea typeface="Roboto"/>
                <a:cs typeface="Roboto"/>
                <a:sym typeface="Roboto"/>
              </a:rPr>
              <a:t>reading</a:t>
            </a:r>
            <a:r>
              <a:rPr lang="en" sz="1200">
                <a:solidFill>
                  <a:srgbClr val="0F1115"/>
                </a:solidFill>
                <a:highlight>
                  <a:srgbClr val="FFFFFF"/>
                </a:highlight>
                <a:latin typeface="Roboto"/>
                <a:ea typeface="Roboto"/>
                <a:cs typeface="Roboto"/>
                <a:sym typeface="Roboto"/>
              </a:rPr>
              <a:t> the research papers Siemens </a:t>
            </a:r>
            <a:r>
              <a:rPr i="1" lang="en" sz="1200">
                <a:solidFill>
                  <a:srgbClr val="0F1115"/>
                </a:solidFill>
                <a:highlight>
                  <a:srgbClr val="FFFFFF"/>
                </a:highlight>
                <a:latin typeface="Roboto"/>
                <a:ea typeface="Roboto"/>
                <a:cs typeface="Roboto"/>
                <a:sym typeface="Roboto"/>
              </a:rPr>
              <a:t>publishes</a:t>
            </a:r>
            <a:r>
              <a:rPr lang="en" sz="1200">
                <a:solidFill>
                  <a:srgbClr val="0F1115"/>
                </a:solidFill>
                <a:highlight>
                  <a:srgbClr val="FFFFFF"/>
                </a:highlight>
                <a:latin typeface="Roboto"/>
                <a:ea typeface="Roboto"/>
                <a:cs typeface="Roboto"/>
                <a:sym typeface="Roboto"/>
              </a:rPr>
              <a:t>, let alone competing with them.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Scale of the Problem: This isn't a problem one person solves. It's a pipeline of nightmare problems: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Data Ingestion (a systems engineering problem)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Geometry Processing (a computational geometry problem)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Feature Recognition (a machine learning problem)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NLP Integration (a natural language processing problem)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CAD Integration (a reverse-engineering problem)</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You need a </a:t>
            </a:r>
            <a:r>
              <a:rPr i="1" lang="en" sz="1200">
                <a:solidFill>
                  <a:srgbClr val="0F1115"/>
                </a:solidFill>
                <a:highlight>
                  <a:srgbClr val="FFFFFF"/>
                </a:highlight>
                <a:latin typeface="Roboto"/>
                <a:ea typeface="Roboto"/>
                <a:cs typeface="Roboto"/>
                <a:sym typeface="Roboto"/>
              </a:rPr>
              <a:t>team</a:t>
            </a:r>
            <a:r>
              <a:rPr lang="en" sz="1200">
                <a:solidFill>
                  <a:srgbClr val="0F1115"/>
                </a:solidFill>
                <a:highlight>
                  <a:srgbClr val="FFFFFF"/>
                </a:highlight>
                <a:latin typeface="Roboto"/>
                <a:ea typeface="Roboto"/>
                <a:cs typeface="Roboto"/>
                <a:sym typeface="Roboto"/>
              </a:rPr>
              <a:t> of experts, not one.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104"/>
          <p:cNvSpPr txBox="1"/>
          <p:nvPr/>
        </p:nvSpPr>
        <p:spPr>
          <a:xfrm>
            <a:off x="242200" y="1410900"/>
            <a:ext cx="8749200" cy="245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What Siemens (and NVIDIA, Autodesk) Are </a:t>
            </a:r>
            <a:r>
              <a:rPr b="1" i="1" lang="en" sz="1500">
                <a:solidFill>
                  <a:srgbClr val="0F1115"/>
                </a:solidFill>
                <a:highlight>
                  <a:srgbClr val="FFFFFF"/>
                </a:highlight>
                <a:latin typeface="Roboto"/>
                <a:ea typeface="Roboto"/>
                <a:cs typeface="Roboto"/>
                <a:sym typeface="Roboto"/>
              </a:rPr>
              <a:t>Actually</a:t>
            </a:r>
            <a:r>
              <a:rPr b="1" lang="en" sz="1500">
                <a:solidFill>
                  <a:srgbClr val="0F1115"/>
                </a:solidFill>
                <a:highlight>
                  <a:srgbClr val="FFFFFF"/>
                </a:highlight>
                <a:latin typeface="Roboto"/>
                <a:ea typeface="Roboto"/>
                <a:cs typeface="Roboto"/>
                <a:sym typeface="Roboto"/>
              </a:rPr>
              <a:t> Doing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They are not just hiring more experts than you. They are solving a completely different problem: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are building platforms and ecosystems.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Siemens Xcelerator and NVIDIA Omniverse are not just tools; they are foundations. They are creating the standard "language" (like USD) that everyone else will be forced to use.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Their strategy is to make their platform the central nervous system of all manufacturing data. Once they own the platform, they don't care what software you use—as long as it all flows through </a:t>
            </a:r>
            <a:r>
              <a:rPr i="1" lang="en" sz="1200">
                <a:solidFill>
                  <a:srgbClr val="0F1115"/>
                </a:solidFill>
                <a:highlight>
                  <a:srgbClr val="FFFFFF"/>
                </a:highlight>
                <a:latin typeface="Roboto"/>
                <a:ea typeface="Roboto"/>
                <a:cs typeface="Roboto"/>
                <a:sym typeface="Roboto"/>
              </a:rPr>
              <a:t>their</a:t>
            </a:r>
            <a:r>
              <a:rPr lang="en" sz="1200">
                <a:solidFill>
                  <a:srgbClr val="0F1115"/>
                </a:solidFill>
                <a:highlight>
                  <a:srgbClr val="FFFFFF"/>
                </a:highlight>
                <a:latin typeface="Roboto"/>
                <a:ea typeface="Roboto"/>
                <a:cs typeface="Roboto"/>
                <a:sym typeface="Roboto"/>
              </a:rPr>
              <a:t> system.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They are playing a game of chess. Your teammate is proposing a game of checkers, and we don't even have all the pieces.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105"/>
          <p:cNvSpPr txBox="1"/>
          <p:nvPr/>
        </p:nvSpPr>
        <p:spPr>
          <a:xfrm>
            <a:off x="567350" y="1149625"/>
            <a:ext cx="7943100" cy="272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What Palantir (and Other "Data Platform" Companies) Are Doing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key. You think the competition is Siemens on the AI front. The real competition is companies like Palantir on the </a:t>
            </a:r>
            <a:r>
              <a:rPr i="1" lang="en" sz="1200">
                <a:solidFill>
                  <a:srgbClr val="0F1115"/>
                </a:solidFill>
                <a:highlight>
                  <a:srgbClr val="FFFFFF"/>
                </a:highlight>
                <a:latin typeface="Roboto"/>
                <a:ea typeface="Roboto"/>
                <a:cs typeface="Roboto"/>
                <a:sym typeface="Roboto"/>
              </a:rPr>
              <a:t>data platform</a:t>
            </a:r>
            <a:r>
              <a:rPr lang="en" sz="1200">
                <a:solidFill>
                  <a:srgbClr val="0F1115"/>
                </a:solidFill>
                <a:highlight>
                  <a:srgbClr val="FFFFFF"/>
                </a:highlight>
                <a:latin typeface="Roboto"/>
                <a:ea typeface="Roboto"/>
                <a:cs typeface="Roboto"/>
                <a:sym typeface="Roboto"/>
              </a:rPr>
              <a:t> front.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Palantir's Foundry doesn't care about your CAD geometry. It cares about connecting your data. It would eat your lunch by: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Building connectors to your SAP, your CAD PDM, your maintenance logs.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Putting it all in one place.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Selling you back the insights.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win by owning the data layer. They don't need to build a better CAD system; they just need to be the platform that connects all your existing systems.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106"/>
          <p:cNvSpPr txBox="1"/>
          <p:nvPr/>
        </p:nvSpPr>
        <p:spPr>
          <a:xfrm>
            <a:off x="410100" y="1133400"/>
            <a:ext cx="8323800" cy="287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Only Winning Move for ST Engineering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cannot out-Siemens Siemens. You cannot out-Palantir Palantir. So you must do what they cannot.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winning move is to build the platform for your </a:t>
            </a:r>
            <a:r>
              <a:rPr i="1" lang="en" sz="1200">
                <a:solidFill>
                  <a:srgbClr val="0F1115"/>
                </a:solidFill>
                <a:highlight>
                  <a:srgbClr val="FFFFFF"/>
                </a:highlight>
                <a:latin typeface="Roboto"/>
                <a:ea typeface="Roboto"/>
                <a:cs typeface="Roboto"/>
                <a:sym typeface="Roboto"/>
              </a:rPr>
              <a:t>domain</a:t>
            </a:r>
            <a:r>
              <a:rPr lang="en" sz="1200">
                <a:solidFill>
                  <a:srgbClr val="0F1115"/>
                </a:solidFill>
                <a:highlight>
                  <a:srgbClr val="FFFFFF"/>
                </a:highlight>
                <a:latin typeface="Roboto"/>
                <a:ea typeface="Roboto"/>
                <a:cs typeface="Roboto"/>
                <a:sym typeface="Roboto"/>
              </a:rPr>
              <a:t>: Aerospace, Defence, and Smart City infrastructure.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Advantage: You have the deep, proprietary, domain-specific data they don't. You feel the pain points of multi-CAD hell in a way they never will.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Strategy: Build the platform that solves your own problems first. Become the best in the world at managing </a:t>
            </a:r>
            <a:r>
              <a:rPr i="1" lang="en" sz="1200">
                <a:solidFill>
                  <a:srgbClr val="0F1115"/>
                </a:solidFill>
                <a:highlight>
                  <a:srgbClr val="FFFFFF"/>
                </a:highlight>
                <a:latin typeface="Roboto"/>
                <a:ea typeface="Roboto"/>
                <a:cs typeface="Roboto"/>
                <a:sym typeface="Roboto"/>
              </a:rPr>
              <a:t>your</a:t>
            </a:r>
            <a:r>
              <a:rPr lang="en" sz="1200">
                <a:solidFill>
                  <a:srgbClr val="0F1115"/>
                </a:solidFill>
                <a:highlight>
                  <a:srgbClr val="FFFFFF"/>
                </a:highlight>
                <a:latin typeface="Roboto"/>
                <a:ea typeface="Roboto"/>
                <a:cs typeface="Roboto"/>
                <a:sym typeface="Roboto"/>
              </a:rPr>
              <a:t> engineering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Start by solving "find and reuse" for ST Engineering.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Then, use that platform to enforce your specific design rules.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Then, and only then, can you think about adding AI features trained on </a:t>
            </a:r>
            <a:r>
              <a:rPr i="1" lang="en" sz="1200">
                <a:solidFill>
                  <a:srgbClr val="0F1115"/>
                </a:solidFill>
                <a:highlight>
                  <a:srgbClr val="FFFFFF"/>
                </a:highlight>
                <a:latin typeface="Roboto"/>
                <a:ea typeface="Roboto"/>
                <a:cs typeface="Roboto"/>
                <a:sym typeface="Roboto"/>
              </a:rPr>
              <a:t>your</a:t>
            </a:r>
            <a:r>
              <a:rPr lang="en" sz="1200">
                <a:solidFill>
                  <a:srgbClr val="0F1115"/>
                </a:solidFill>
                <a:highlight>
                  <a:srgbClr val="FFFFFF"/>
                </a:highlight>
                <a:latin typeface="Roboto"/>
                <a:ea typeface="Roboto"/>
                <a:cs typeface="Roboto"/>
                <a:sym typeface="Roboto"/>
              </a:rPr>
              <a:t> data.</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107"/>
          <p:cNvSpPr txBox="1"/>
          <p:nvPr/>
        </p:nvSpPr>
        <p:spPr>
          <a:xfrm>
            <a:off x="3830175" y="22527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Competition</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108"/>
          <p:cNvSpPr txBox="1"/>
          <p:nvPr/>
        </p:nvSpPr>
        <p:spPr>
          <a:xfrm>
            <a:off x="1298950" y="1403450"/>
            <a:ext cx="6912900" cy="214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His Way: "Win by Building a Better Feature"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Battlefield: The AI feature itself. He sees the race as: "Who can build the best generative AI for 3D design?"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Strategy: Direct confrontation. Hire experts to compete head-to-head with Siemens, NVIDIA, and Autodesk on their home turf (AI research and general-purpose CAD tools).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Assumption: The company with the smartest AI model wins.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Analogy: He wants ST Engineering to start a new car company to compete with Tesla by building a better electric motor. He's focused on the component.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109"/>
          <p:cNvSpPr txBox="1"/>
          <p:nvPr/>
        </p:nvSpPr>
        <p:spPr>
          <a:xfrm>
            <a:off x="679325" y="1181100"/>
            <a:ext cx="7636800" cy="2781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Your Way: "Win by Building a Better Ecosystem"</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Battlefield: The platform and the data. You see the race as: "Who can build the most valuable, domain-specific ecosystem for engineering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Strategy: Avoid direct confrontation. Instead, leverage your unassailable advantage—your proprietary data and domain expertise—to create a fortress in your niche. You make your platform </a:t>
            </a:r>
            <a:r>
              <a:rPr i="1" lang="en" sz="1200">
                <a:solidFill>
                  <a:srgbClr val="0F1115"/>
                </a:solidFill>
                <a:highlight>
                  <a:srgbClr val="FFFFFF"/>
                </a:highlight>
                <a:latin typeface="Roboto"/>
                <a:ea typeface="Roboto"/>
                <a:cs typeface="Roboto"/>
                <a:sym typeface="Roboto"/>
              </a:rPr>
              <a:t>indispensable</a:t>
            </a:r>
            <a:r>
              <a:rPr lang="en" sz="1200">
                <a:solidFill>
                  <a:srgbClr val="0F1115"/>
                </a:solidFill>
                <a:highlight>
                  <a:srgbClr val="FFFFFF"/>
                </a:highlight>
                <a:latin typeface="Roboto"/>
                <a:ea typeface="Roboto"/>
                <a:cs typeface="Roboto"/>
                <a:sym typeface="Roboto"/>
              </a:rPr>
              <a:t> for your specific industry.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Assumption: The company with the best data foundation wins, because data is the fuel for AI. Without it, the best AI engine is useless.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Analogy: You want ST Engineering to become the "Android of Aerospace." You don't build the phone hardware (the CAD system) or just the apps (the AI features). You build the operating system that all the hardware and apps run on. Your value is in connecting and controlling the ecosystem.</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graphicFrame>
        <p:nvGraphicFramePr>
          <p:cNvPr id="541" name="Google Shape;541;p110"/>
          <p:cNvGraphicFramePr/>
          <p:nvPr/>
        </p:nvGraphicFramePr>
        <p:xfrm>
          <a:off x="779475" y="745275"/>
          <a:ext cx="3000000" cy="3000000"/>
        </p:xfrm>
        <a:graphic>
          <a:graphicData uri="http://schemas.openxmlformats.org/drawingml/2006/table">
            <a:tbl>
              <a:tblPr>
                <a:solidFill>
                  <a:srgbClr val="FFFFFF"/>
                </a:solidFill>
                <a:tableStyleId>{E140739C-67F7-4B14-85D5-AACBD16AE2FA}</a:tableStyleId>
              </a:tblPr>
              <a:tblGrid>
                <a:gridCol w="1352550"/>
                <a:gridCol w="3048000"/>
                <a:gridCol w="3352800"/>
              </a:tblGrid>
              <a:tr h="428625">
                <a:tc>
                  <a:txBody>
                    <a:bodyPr/>
                    <a:lstStyle/>
                    <a:p>
                      <a:pPr indent="0" lvl="0" marL="0" rtl="0" algn="l">
                        <a:spcBef>
                          <a:spcPts val="0"/>
                        </a:spcBef>
                        <a:spcAft>
                          <a:spcPts val="0"/>
                        </a:spcAft>
                        <a:buNone/>
                      </a:pPr>
                      <a:r>
                        <a:t/>
                      </a:r>
                      <a:endParaRPr/>
                    </a:p>
                  </a:txBody>
                  <a:tcPr marT="95250" marB="95250" marR="152400" marL="91425">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His Approach (The "Feature" Fight)</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Approach (The "Platform" Fight)</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Competitors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Siemens, NVIDIA, Autodesk</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Palantir, other data platform companies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Weapon</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AI Algorithms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Proprietary Data + Domain Knowledge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Resource Fight</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An unwinnable war for AI talent.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 winnable war to organize our own data.</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Result of Winning</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have one feature that's slightly better.</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have control over the entire engineering workflow.</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The Endgame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become a niche plugin vendor.</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become the essential data backbone of your industry.</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111"/>
          <p:cNvSpPr txBox="1"/>
          <p:nvPr/>
        </p:nvSpPr>
        <p:spPr>
          <a:xfrm>
            <a:off x="537475" y="865975"/>
            <a:ext cx="8151900" cy="353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"You're right, we can't avoid competition. But we get to choose our competitors. And we should choose competitors we can actually beat.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If we follow your path, our competitors are Siemens and NVIDIA. We will lose. We cannot win a war of attrition against their billions of R&amp;D dollars and armies of PhDs.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If we follow my path, our competitors are other data platform companies trying to manage complex engineering data. Our advantage is that we are the customer. We have the deepest understanding of the problem and the most relevant data. This is a war we can win.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way, we are a lone soldier fighting against their army.</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My way, we are building the fortress on land that we already own.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goal isn't to build a better AI than Siemens. The goal is to build a platform so valuable that Siemens would want to integrate </a:t>
            </a:r>
            <a:r>
              <a:rPr i="1" lang="en" sz="1200">
                <a:solidFill>
                  <a:srgbClr val="0F1115"/>
                </a:solidFill>
                <a:highlight>
                  <a:srgbClr val="FFFFFF"/>
                </a:highlight>
                <a:latin typeface="Roboto"/>
                <a:ea typeface="Roboto"/>
                <a:cs typeface="Roboto"/>
                <a:sym typeface="Roboto"/>
              </a:rPr>
              <a:t>their</a:t>
            </a:r>
            <a:r>
              <a:rPr lang="en" sz="1200">
                <a:solidFill>
                  <a:srgbClr val="0F1115"/>
                </a:solidFill>
                <a:highlight>
                  <a:srgbClr val="FFFFFF"/>
                </a:highlight>
                <a:latin typeface="Roboto"/>
                <a:ea typeface="Roboto"/>
                <a:cs typeface="Roboto"/>
                <a:sym typeface="Roboto"/>
              </a:rPr>
              <a:t> AI into </a:t>
            </a:r>
            <a:r>
              <a:rPr i="1" lang="en" sz="1200">
                <a:solidFill>
                  <a:srgbClr val="0F1115"/>
                </a:solidFill>
                <a:highlight>
                  <a:srgbClr val="FFFFFF"/>
                </a:highlight>
                <a:latin typeface="Roboto"/>
                <a:ea typeface="Roboto"/>
                <a:cs typeface="Roboto"/>
                <a:sym typeface="Roboto"/>
              </a:rPr>
              <a:t>our</a:t>
            </a:r>
            <a:r>
              <a:rPr lang="en" sz="1200">
                <a:solidFill>
                  <a:srgbClr val="0F1115"/>
                </a:solidFill>
                <a:highlight>
                  <a:srgbClr val="FFFFFF"/>
                </a:highlight>
                <a:latin typeface="Roboto"/>
                <a:ea typeface="Roboto"/>
                <a:cs typeface="Roboto"/>
                <a:sym typeface="Roboto"/>
              </a:rPr>
              <a:t> system to access our customers and our data."</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flips the script entirely. It's not about avoiding competition; it's about choosing a battlefield where you hold the high ground. Your approach doesn't shy away from competition—it defines it on your own terms.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112"/>
          <p:cNvSpPr txBox="1"/>
          <p:nvPr/>
        </p:nvSpPr>
        <p:spPr>
          <a:xfrm>
            <a:off x="3986375" y="23871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chemeClr val="lt1"/>
                </a:highlight>
                <a:latin typeface="Roboto"/>
                <a:ea typeface="Roboto"/>
                <a:cs typeface="Roboto"/>
                <a:sym typeface="Roboto"/>
              </a:rPr>
              <a:t>Sun Tzu</a:t>
            </a:r>
            <a:endParaRPr>
              <a:solidFill>
                <a:schemeClr val="dk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113"/>
          <p:cNvSpPr txBox="1"/>
          <p:nvPr/>
        </p:nvSpPr>
        <p:spPr>
          <a:xfrm>
            <a:off x="1089925" y="1037100"/>
            <a:ext cx="7308300" cy="30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"Appear at points which the enemy must hasten to defend; march swiftly to places where you are not expected."</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Teammate's Plan (Head-on assault): He is marching directly to the strongest, most heavily defended point on the map: the R&amp;D labs of Siemens and NVIDIA. They are expecting this fight and are prepared to win it.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Plan (Strategic maneuver): You are bypassing their strengths entirely. You are attacking the </a:t>
            </a:r>
            <a:r>
              <a:rPr i="1" lang="en" sz="1200">
                <a:solidFill>
                  <a:srgbClr val="0F1115"/>
                </a:solidFill>
                <a:highlight>
                  <a:srgbClr val="FFFFFF"/>
                </a:highlight>
                <a:latin typeface="Roboto"/>
                <a:ea typeface="Roboto"/>
                <a:cs typeface="Roboto"/>
                <a:sym typeface="Roboto"/>
              </a:rPr>
              <a:t>unguarded</a:t>
            </a:r>
            <a:r>
              <a:rPr lang="en" sz="1200">
                <a:solidFill>
                  <a:srgbClr val="0F1115"/>
                </a:solidFill>
                <a:highlight>
                  <a:srgbClr val="FFFFFF"/>
                </a:highlight>
                <a:latin typeface="Roboto"/>
                <a:ea typeface="Roboto"/>
                <a:cs typeface="Roboto"/>
                <a:sym typeface="Roboto"/>
              </a:rPr>
              <a:t> "place where you are not expected": the domain-specific data layer. Siemens is focused on selling software tools; they are not focused on being the data platform for ST Engineering. This is your opening.</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Sun Tzu's Verdict: Your teammate chooses the path of maximum resistance. You choose the path of least resistance and maximum gain.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114"/>
          <p:cNvSpPr txBox="1"/>
          <p:nvPr/>
        </p:nvSpPr>
        <p:spPr>
          <a:xfrm>
            <a:off x="1089900" y="1455700"/>
            <a:ext cx="7084500" cy="2085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"He will win who knows when to fight and when not to fight."</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Teammate's Plan (Always fight): "We must fight them on AI!" This is a fool's errand. You are choosing to fight a battle you are destined to lose.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Plan (Choose your battles): You know not to fight the AI battle now. You postpone that battle until you have built up an unassailable advantage (your organized data platform). Then, and only then, can you fight on your terms.</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Sun Tzu's Verdict: Your teammate is reckless. You are disciplined and patient.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115"/>
          <p:cNvSpPr txBox="1"/>
          <p:nvPr/>
        </p:nvSpPr>
        <p:spPr>
          <a:xfrm>
            <a:off x="522550" y="1254150"/>
            <a:ext cx="7920600" cy="2432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"Victorious warriors win first and then go to war, while defeated warriors go to war first and then seek to win."</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Teammate's Plan (Go to war first): He wants to charge into the AI war immediately with no secured advantage, hoping to figure out how to win later.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Plan (Win first): You secure victory </a:t>
            </a:r>
            <a:r>
              <a:rPr i="1" lang="en" sz="1200">
                <a:solidFill>
                  <a:srgbClr val="0F1115"/>
                </a:solidFill>
                <a:highlight>
                  <a:srgbClr val="FFFFFF"/>
                </a:highlight>
                <a:latin typeface="Roboto"/>
                <a:ea typeface="Roboto"/>
                <a:cs typeface="Roboto"/>
                <a:sym typeface="Roboto"/>
              </a:rPr>
              <a:t>before</a:t>
            </a:r>
            <a:r>
              <a:rPr lang="en" sz="1200">
                <a:solidFill>
                  <a:srgbClr val="0F1115"/>
                </a:solidFill>
                <a:highlight>
                  <a:srgbClr val="FFFFFF"/>
                </a:highlight>
                <a:latin typeface="Roboto"/>
                <a:ea typeface="Roboto"/>
                <a:cs typeface="Roboto"/>
                <a:sym typeface="Roboto"/>
              </a:rPr>
              <a:t> the main battle by building the platform. You win by making your engineers massively more efficient with organized data. This provides the resources, the credibility, and the strategic position. Then you can engage in the AI "war" from a position of strength.</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Sun Tzu's Verdict: Your teammate is a defeated warrior. You are a victorious warrior.</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116"/>
          <p:cNvSpPr txBox="1"/>
          <p:nvPr/>
        </p:nvSpPr>
        <p:spPr>
          <a:xfrm>
            <a:off x="664400" y="1478100"/>
            <a:ext cx="8002800" cy="2298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"The supreme art of war is to subdue the enemy without fighting."</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Teammate's Plan (Fight to subdue): He seeks to defeat Siemens by building a better product than them—a direct fight.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Plan (Subdue without fighting): You do not need to defeat Siemens. You can neutralize their advantage by making their tool just one of many inputs into your superior platform. You subdue them by making your platform the indispensable system, reducing their software to a replaceable commodity within your ecosystem.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Sun Tzu's Verdict: Your teammate understands violence; you understand strategy.</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117"/>
          <p:cNvSpPr txBox="1"/>
          <p:nvPr/>
        </p:nvSpPr>
        <p:spPr>
          <a:xfrm>
            <a:off x="343375" y="1493025"/>
            <a:ext cx="8219100" cy="2298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5. "Know the enemy and know yourself; in a hundred battles you will never be in peril."</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Teammate's Plan (Knows neither):</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Himself: He fails to see that ST Engineering's strength is domain expertise and data, not AI research.</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Enemy: He underestimates the immense resources and head start of Siemens/NVIDIA.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Plan (Knows both):</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Yourself: You know your strength is your deep, proprietary, aerospace &amp; defense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Enemy: You know you cannot beat Siemens at their game, so you change the game.</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Sun Tzu's Verdict: Your teammate is in perpetual peril. You are secure.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80" name="Shape 580"/>
        <p:cNvGrpSpPr/>
        <p:nvPr/>
      </p:nvGrpSpPr>
      <p:grpSpPr>
        <a:xfrm>
          <a:off x="0" y="0"/>
          <a:ext cx="0" cy="0"/>
          <a:chOff x="0" y="0"/>
          <a:chExt cx="0" cy="0"/>
        </a:xfrm>
      </p:grpSpPr>
      <p:sp>
        <p:nvSpPr>
          <p:cNvPr id="581" name="Google Shape;581;p118"/>
          <p:cNvSpPr txBox="1"/>
          <p:nvPr/>
        </p:nvSpPr>
        <p:spPr>
          <a:xfrm>
            <a:off x="3986375" y="23871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chemeClr val="lt1"/>
                </a:highlight>
                <a:latin typeface="Roboto"/>
                <a:ea typeface="Roboto"/>
                <a:cs typeface="Roboto"/>
                <a:sym typeface="Roboto"/>
              </a:rPr>
              <a:t>SWOT Analysis</a:t>
            </a:r>
            <a:endParaRPr>
              <a:solidFill>
                <a:schemeClr val="dk1"/>
              </a:solidFill>
              <a:highlight>
                <a:schemeClr val="lt1"/>
              </a:highlight>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5" name="Shape 585"/>
        <p:cNvGrpSpPr/>
        <p:nvPr/>
      </p:nvGrpSpPr>
      <p:grpSpPr>
        <a:xfrm>
          <a:off x="0" y="0"/>
          <a:ext cx="0" cy="0"/>
          <a:chOff x="0" y="0"/>
          <a:chExt cx="0" cy="0"/>
        </a:xfrm>
      </p:grpSpPr>
      <p:sp>
        <p:nvSpPr>
          <p:cNvPr id="586" name="Google Shape;586;p119"/>
          <p:cNvSpPr txBox="1"/>
          <p:nvPr/>
        </p:nvSpPr>
        <p:spPr>
          <a:xfrm>
            <a:off x="274200" y="0"/>
            <a:ext cx="8595600" cy="3147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SWOT Analysis: "3D Copilot" Idea</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 strategy of building a generative AI tool to create 3D geometry based on natural language prompts.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Strengths (Internal, Helpful):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High "Wow" Factor: Demos well and seems futuristic, which can attract initial interest.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Targets a Popular Trend: Aligns with the current hype around generative AI.</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Theoretical Efficiency: Promises to automate a specific task (e.g., placing a fastener).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Weaknesses (Internal, Harmful):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Solves a Non-Problem: Engineers' main pain point is </a:t>
            </a:r>
            <a:r>
              <a:rPr i="1" lang="en" sz="1200">
                <a:solidFill>
                  <a:srgbClr val="0F1115"/>
                </a:solidFill>
                <a:highlight>
                  <a:srgbClr val="FFFFFF"/>
                </a:highlight>
                <a:latin typeface="Roboto"/>
                <a:ea typeface="Roboto"/>
                <a:cs typeface="Roboto"/>
                <a:sym typeface="Roboto"/>
              </a:rPr>
              <a:t>reuse</a:t>
            </a:r>
            <a:r>
              <a:rPr lang="en" sz="1200">
                <a:solidFill>
                  <a:srgbClr val="0F1115"/>
                </a:solidFill>
                <a:highlight>
                  <a:srgbClr val="FFFFFF"/>
                </a:highlight>
                <a:latin typeface="Roboto"/>
                <a:ea typeface="Roboto"/>
                <a:cs typeface="Roboto"/>
                <a:sym typeface="Roboto"/>
              </a:rPr>
              <a:t>, not </a:t>
            </a:r>
            <a:r>
              <a:rPr i="1" lang="en" sz="1200">
                <a:solidFill>
                  <a:srgbClr val="0F1115"/>
                </a:solidFill>
                <a:highlight>
                  <a:srgbClr val="FFFFFF"/>
                </a:highlight>
                <a:latin typeface="Roboto"/>
                <a:ea typeface="Roboto"/>
                <a:cs typeface="Roboto"/>
                <a:sym typeface="Roboto"/>
              </a:rPr>
              <a:t>creation</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Ignores Prerequisites: Requires clean, structured, labeled data—which we don't have.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Technically Naive: Grossly underestimates the difficulty of geometric reasoning, NLP, and CAD integration.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Creates New Problems: Will generate unvalidated, non-compliant designs, increasing liability and rework.</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No Defensible Moat: Any output can be easily replicated by others; it doesn't create a unique asset.</a:t>
            </a:r>
            <a:endParaRPr sz="1200">
              <a:solidFill>
                <a:srgbClr val="0F1115"/>
              </a:solidFill>
              <a:highlight>
                <a:srgbClr val="FFFFFF"/>
              </a:highlight>
              <a:latin typeface="Roboto"/>
              <a:ea typeface="Roboto"/>
              <a:cs typeface="Roboto"/>
              <a:sym typeface="Roboto"/>
            </a:endParaRPr>
          </a:p>
        </p:txBody>
      </p:sp>
      <p:sp>
        <p:nvSpPr>
          <p:cNvPr id="587" name="Google Shape;587;p119"/>
          <p:cNvSpPr txBox="1"/>
          <p:nvPr/>
        </p:nvSpPr>
        <p:spPr>
          <a:xfrm>
            <a:off x="262376" y="2961191"/>
            <a:ext cx="8685300" cy="22812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7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Opportunities (External, Helpful):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None that are unique or defensible. Any opportunity here is also available to Siemens, NVIDIA, and Autodesk, but they are 1000x more equipped to pursue it.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Threats (External, Harmful):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Direct Competition with Giants: Puts ST Eng in a hopeless R&amp;D war against NVIDIA, Siemens, and Autodesk.</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Instant Obsolescence: These giants will release their own competent Copilots as built-in features, making a standalone tool irrelevant.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Catastrophic Waste: Will consume immense resources (time, money, talent) for a project with a near-100% chance of failure.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Reputational Damage: Failure of a high-profile AI project could hurt morale and make the company seem naive.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1" name="Shape 591"/>
        <p:cNvGrpSpPr/>
        <p:nvPr/>
      </p:nvGrpSpPr>
      <p:grpSpPr>
        <a:xfrm>
          <a:off x="0" y="0"/>
          <a:ext cx="0" cy="0"/>
          <a:chOff x="0" y="0"/>
          <a:chExt cx="0" cy="0"/>
        </a:xfrm>
      </p:grpSpPr>
      <p:sp>
        <p:nvSpPr>
          <p:cNvPr id="592" name="Google Shape;592;p120"/>
          <p:cNvSpPr txBox="1"/>
          <p:nvPr/>
        </p:nvSpPr>
        <p:spPr>
          <a:xfrm>
            <a:off x="0" y="-34525"/>
            <a:ext cx="9037500" cy="539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SWOT Analysis: 3D Data Platform</a:t>
            </a:r>
            <a:br>
              <a:rPr b="1" lang="en" sz="15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The strategy of building a centralized system to manage, organize, and derive insights from 3D engineering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Strengths (Internal, Helpful):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Solves Immediate Pain Points: Directly addresses the #1 problem: inefficient search, reuse, and data silos.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Builds on Core Competency: Leverages ST Engineering's deepest strength: proprietary domain expertise and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Clear, Phased ROI: Delivers value at every stage (Descriptive -&gt; Diagnostic -&gt; Predictive -&gt; Prescriptive).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Foundation for the Future: Creates the essential data foundation that any future AI </a:t>
            </a:r>
            <a:r>
              <a:rPr i="1" lang="en" sz="1200">
                <a:solidFill>
                  <a:srgbClr val="0F1115"/>
                </a:solidFill>
                <a:highlight>
                  <a:srgbClr val="FFFFFF"/>
                </a:highlight>
                <a:latin typeface="Roboto"/>
                <a:ea typeface="Roboto"/>
                <a:cs typeface="Roboto"/>
                <a:sym typeface="Roboto"/>
              </a:rPr>
              <a:t>requires</a:t>
            </a:r>
            <a:r>
              <a:rPr lang="en" sz="1200">
                <a:solidFill>
                  <a:srgbClr val="0F1115"/>
                </a:solidFill>
                <a:highlight>
                  <a:srgbClr val="FFFFFF"/>
                </a:highlight>
                <a:latin typeface="Roboto"/>
                <a:ea typeface="Roboto"/>
                <a:cs typeface="Roboto"/>
                <a:sym typeface="Roboto"/>
              </a:rPr>
              <a:t> to be useful.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Defensible Moat: The platform's value increases with more data, creating a network effect that competitors cannot easily replicate.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Weaknesses (Internal, Harmful):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High Initial Effort: Requires significant upfront investment in data engineering and governance.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Less "Sexy": May be harder to get initial buy-in from leadership compared to a flashy AI demo.</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Organizational Change: Requires breaking down long-standing silos and changing entrenched workflows.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Opportunities (External, Helpful):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Massive TAM: Addresses a multi-billion dollar problem across all engineering-driven industries.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Ecosystem Play: Could evolve into a platform that other companies in the supply chain pay to access.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Enables True AI: The only viable path to eventually deploying effective, trustworthy AI applications.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Strategic Partnerships: Positions ST Eng as a leader, potentially attracting partnerships with tech giants (e.g., NVIDIA, Siemens) who want access to your domain.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Threats (External, Harmful):</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Competition from Palantir-like Firms: Other companies are trying to own the "data layer" for enterprises.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Internal Impatience: The company might lose faith before the long-term strategic value is realized.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Legacy System Inertia: Strong resistance from teams comfortable with old, inefficient ways of working.</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96" name="Shape 596"/>
        <p:cNvGrpSpPr/>
        <p:nvPr/>
      </p:nvGrpSpPr>
      <p:grpSpPr>
        <a:xfrm>
          <a:off x="0" y="0"/>
          <a:ext cx="0" cy="0"/>
          <a:chOff x="0" y="0"/>
          <a:chExt cx="0" cy="0"/>
        </a:xfrm>
      </p:grpSpPr>
      <p:sp>
        <p:nvSpPr>
          <p:cNvPr id="597" name="Google Shape;597;p121"/>
          <p:cNvSpPr txBox="1"/>
          <p:nvPr/>
        </p:nvSpPr>
        <p:spPr>
          <a:xfrm>
            <a:off x="3986375" y="23871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chemeClr val="lt1"/>
                </a:highlight>
                <a:latin typeface="Roboto"/>
                <a:ea typeface="Roboto"/>
                <a:cs typeface="Roboto"/>
                <a:sym typeface="Roboto"/>
              </a:rPr>
              <a:t>POEMS</a:t>
            </a:r>
            <a:r>
              <a:rPr lang="en" sz="1200">
                <a:solidFill>
                  <a:srgbClr val="0F1115"/>
                </a:solidFill>
                <a:highlight>
                  <a:schemeClr val="lt1"/>
                </a:highlight>
                <a:latin typeface="Roboto"/>
                <a:ea typeface="Roboto"/>
                <a:cs typeface="Roboto"/>
                <a:sym typeface="Roboto"/>
              </a:rPr>
              <a:t> Analysis</a:t>
            </a:r>
            <a:endParaRPr>
              <a:solidFill>
                <a:schemeClr val="dk1"/>
              </a:solidFill>
              <a:highlight>
                <a:schemeClr val="lt1"/>
              </a:highlight>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1" name="Shape 601"/>
        <p:cNvGrpSpPr/>
        <p:nvPr/>
      </p:nvGrpSpPr>
      <p:grpSpPr>
        <a:xfrm>
          <a:off x="0" y="0"/>
          <a:ext cx="0" cy="0"/>
          <a:chOff x="0" y="0"/>
          <a:chExt cx="0" cy="0"/>
        </a:xfrm>
      </p:grpSpPr>
      <p:sp>
        <p:nvSpPr>
          <p:cNvPr id="602" name="Google Shape;602;p122"/>
          <p:cNvSpPr txBox="1"/>
          <p:nvPr/>
        </p:nvSpPr>
        <p:spPr>
          <a:xfrm>
            <a:off x="0" y="0"/>
            <a:ext cx="9051300" cy="5139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POEMS Analysis: "3D Copilot" Idea</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 strategy focused on building a generative AI tool for creating 3D geometry.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People: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single engineer trying to create a new part quickly.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ignores all other stakeholders: managers, procurement, manufacturers).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Objects: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AI model itself.</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prompt input field.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outputted 3D model, which is often a "dumb," uneditable mesh.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Environments: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Isolated from the real workflow. It exists outside the primary CAD software and data systems.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testing or demo environment that doesn't reflect real-world engineering constraints.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Messages: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“Make a bracket.” (Highly ambiguous)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isn't to our standard.”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“Where did this come from? How do I edit it?”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doesn't connect to our other systems.”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Copilot's message: “I can make a thing, but I don't understand your world.”</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6" name="Shape 606"/>
        <p:cNvGrpSpPr/>
        <p:nvPr/>
      </p:nvGrpSpPr>
      <p:grpSpPr>
        <a:xfrm>
          <a:off x="0" y="0"/>
          <a:ext cx="0" cy="0"/>
          <a:chOff x="0" y="0"/>
          <a:chExt cx="0" cy="0"/>
        </a:xfrm>
      </p:grpSpPr>
      <p:sp>
        <p:nvSpPr>
          <p:cNvPr id="607" name="Google Shape;607;p123"/>
          <p:cNvSpPr txBox="1"/>
          <p:nvPr/>
        </p:nvSpPr>
        <p:spPr>
          <a:xfrm>
            <a:off x="1001075" y="434950"/>
            <a:ext cx="6973200" cy="2222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7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Services: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One service only: Generative output.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provides no services for data management, search, reuse, collaboration, or integration. It actively makes the data chaos worse by generating </a:t>
            </a:r>
            <a:r>
              <a:rPr i="1" lang="en" sz="1200">
                <a:solidFill>
                  <a:srgbClr val="0F1115"/>
                </a:solidFill>
                <a:highlight>
                  <a:srgbClr val="FFFFFF"/>
                </a:highlight>
                <a:latin typeface="Roboto"/>
                <a:ea typeface="Roboto"/>
                <a:cs typeface="Roboto"/>
                <a:sym typeface="Roboto"/>
              </a:rPr>
              <a:t>more</a:t>
            </a:r>
            <a:r>
              <a:rPr lang="en" sz="1200">
                <a:solidFill>
                  <a:srgbClr val="0F1115"/>
                </a:solidFill>
                <a:highlight>
                  <a:srgbClr val="FFFFFF"/>
                </a:highlight>
                <a:latin typeface="Roboto"/>
                <a:ea typeface="Roboto"/>
                <a:cs typeface="Roboto"/>
                <a:sym typeface="Roboto"/>
              </a:rPr>
              <a:t> unvetted, unstructured data.</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POEMS Conclusion (Copilot): The Copilot is a disconnected, isolated object that serves one person in a very limited way. It ignores the broader ecosystem, creates objects that don't fit into the environment, and is deaf to the most critical messages of the organization. It is a point solution that exacerbates the core problem.</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1" name="Shape 611"/>
        <p:cNvGrpSpPr/>
        <p:nvPr/>
      </p:nvGrpSpPr>
      <p:grpSpPr>
        <a:xfrm>
          <a:off x="0" y="0"/>
          <a:ext cx="0" cy="0"/>
          <a:chOff x="0" y="0"/>
          <a:chExt cx="0" cy="0"/>
        </a:xfrm>
      </p:grpSpPr>
      <p:sp>
        <p:nvSpPr>
          <p:cNvPr id="612" name="Google Shape;612;p124"/>
          <p:cNvSpPr txBox="1"/>
          <p:nvPr/>
        </p:nvSpPr>
        <p:spPr>
          <a:xfrm>
            <a:off x="0" y="0"/>
            <a:ext cx="9058200" cy="4576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POEMS Analysis: 3D Data Platform</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 strategy focused on creating a centralized system to manage and derive value from engineering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People: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Engineers wasting time searching for files.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Project Managers needing visibility into design status and dependencies.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Supply Chain &amp; Procurement teams needing accurate BOMs and part information.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Leadership seeking to reduce costs and de-risk projects.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Objects: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Disparate CAD files (SOLIDWORKS, NX, CATIA).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Spreadsheets, PDFs, and documents containing critical metadata.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ERP and PLM systems housing BOM and lifecycle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platform itself as the new central object everyone interacts with.</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Environments: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Engineering offices with multiple software tools open.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 Manufacturing floors** where incorrect data causes physical errors.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Supply chain networks strained by miscommunication.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 digital environment characterized by chaos and siloed information.</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6" name="Shape 616"/>
        <p:cNvGrpSpPr/>
        <p:nvPr/>
      </p:nvGrpSpPr>
      <p:grpSpPr>
        <a:xfrm>
          <a:off x="0" y="0"/>
          <a:ext cx="0" cy="0"/>
          <a:chOff x="0" y="0"/>
          <a:chExt cx="0" cy="0"/>
        </a:xfrm>
      </p:grpSpPr>
      <p:sp>
        <p:nvSpPr>
          <p:cNvPr id="617" name="Google Shape;617;p125"/>
          <p:cNvSpPr txBox="1"/>
          <p:nvPr/>
        </p:nvSpPr>
        <p:spPr>
          <a:xfrm>
            <a:off x="125850" y="193300"/>
            <a:ext cx="8892300" cy="3284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7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Messages: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 can’t find the part I need.”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“Where is this part used?”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“Is this the latest version?”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“We need a single source of truth.”</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platform's message: “Everything you need is here, connected, and clear.”</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Services: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Universal Search: A Google-like service for parts and designs.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Automated Data Governance: A service that cleans and tags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Cross-System Integration: A service that connects CAD, ERP, and MES systems.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Analytics &amp; Reporting: A service that provides insights into design reuse, cost, and risk.</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POEMS Conclusion (Platform): The platform seamlessly integrates into the existing ecosystem of people, objects, and environments. It listens to their painful messages and provides critical, missing services that bring order and intelligence. It is a holistic solution.</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621" name="Shape 621"/>
        <p:cNvGrpSpPr/>
        <p:nvPr/>
      </p:nvGrpSpPr>
      <p:grpSpPr>
        <a:xfrm>
          <a:off x="0" y="0"/>
          <a:ext cx="0" cy="0"/>
          <a:chOff x="0" y="0"/>
          <a:chExt cx="0" cy="0"/>
        </a:xfrm>
      </p:grpSpPr>
      <p:sp>
        <p:nvSpPr>
          <p:cNvPr id="622" name="Google Shape;622;p126"/>
          <p:cNvSpPr txBox="1"/>
          <p:nvPr/>
        </p:nvSpPr>
        <p:spPr>
          <a:xfrm>
            <a:off x="3986375" y="23871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chemeClr val="lt1"/>
                </a:highlight>
                <a:latin typeface="Roboto"/>
                <a:ea typeface="Roboto"/>
                <a:cs typeface="Roboto"/>
                <a:sym typeface="Roboto"/>
              </a:rPr>
              <a:t>PESTEL</a:t>
            </a:r>
            <a:r>
              <a:rPr lang="en" sz="1200">
                <a:solidFill>
                  <a:srgbClr val="0F1115"/>
                </a:solidFill>
                <a:highlight>
                  <a:schemeClr val="lt1"/>
                </a:highlight>
                <a:latin typeface="Roboto"/>
                <a:ea typeface="Roboto"/>
                <a:cs typeface="Roboto"/>
                <a:sym typeface="Roboto"/>
              </a:rPr>
              <a:t> Analysis</a:t>
            </a:r>
            <a:endParaRPr>
              <a:solidFill>
                <a:schemeClr val="dk1"/>
              </a:solidFill>
              <a:highlight>
                <a:schemeClr val="lt1"/>
              </a:highlight>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6" name="Shape 626"/>
        <p:cNvGrpSpPr/>
        <p:nvPr/>
      </p:nvGrpSpPr>
      <p:grpSpPr>
        <a:xfrm>
          <a:off x="0" y="0"/>
          <a:ext cx="0" cy="0"/>
          <a:chOff x="0" y="0"/>
          <a:chExt cx="0" cy="0"/>
        </a:xfrm>
      </p:grpSpPr>
      <p:pic>
        <p:nvPicPr>
          <p:cNvPr id="627" name="Google Shape;627;p127"/>
          <p:cNvPicPr preferRelativeResize="0"/>
          <p:nvPr/>
        </p:nvPicPr>
        <p:blipFill>
          <a:blip r:embed="rId3">
            <a:alphaModFix/>
          </a:blip>
          <a:stretch>
            <a:fillRect/>
          </a:stretch>
        </p:blipFill>
        <p:spPr>
          <a:xfrm>
            <a:off x="1576388" y="176200"/>
            <a:ext cx="5991225" cy="4791075"/>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1" name="Shape 631"/>
        <p:cNvGrpSpPr/>
        <p:nvPr/>
      </p:nvGrpSpPr>
      <p:grpSpPr>
        <a:xfrm>
          <a:off x="0" y="0"/>
          <a:ext cx="0" cy="0"/>
          <a:chOff x="0" y="0"/>
          <a:chExt cx="0" cy="0"/>
        </a:xfrm>
      </p:grpSpPr>
      <p:pic>
        <p:nvPicPr>
          <p:cNvPr id="632" name="Google Shape;632;p128"/>
          <p:cNvPicPr preferRelativeResize="0"/>
          <p:nvPr/>
        </p:nvPicPr>
        <p:blipFill>
          <a:blip r:embed="rId3">
            <a:alphaModFix/>
          </a:blip>
          <a:stretch>
            <a:fillRect/>
          </a:stretch>
        </p:blipFill>
        <p:spPr>
          <a:xfrm>
            <a:off x="1664375" y="152400"/>
            <a:ext cx="5890187" cy="48387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636" name="Shape 636"/>
        <p:cNvGrpSpPr/>
        <p:nvPr/>
      </p:nvGrpSpPr>
      <p:grpSpPr>
        <a:xfrm>
          <a:off x="0" y="0"/>
          <a:ext cx="0" cy="0"/>
          <a:chOff x="0" y="0"/>
          <a:chExt cx="0" cy="0"/>
        </a:xfrm>
      </p:grpSpPr>
      <p:sp>
        <p:nvSpPr>
          <p:cNvPr id="637" name="Google Shape;637;p129"/>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Geometry Data Research</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t/>
            </a:r>
            <a:endParaRPr sz="1800">
              <a:solidFill>
                <a:srgbClr val="595959"/>
              </a:solidFill>
            </a:endParaRPr>
          </a:p>
          <a:p>
            <a:pPr indent="0" lvl="0" marL="0" rtl="0" algn="ctr">
              <a:spcBef>
                <a:spcPts val="0"/>
              </a:spcBef>
              <a:spcAft>
                <a:spcPts val="0"/>
              </a:spcAft>
              <a:buNone/>
            </a:pPr>
            <a:r>
              <a:t/>
            </a:r>
            <a:endParaRPr sz="1800">
              <a:solidFill>
                <a:srgbClr val="595959"/>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30"/>
          <p:cNvSpPr txBox="1"/>
          <p:nvPr/>
        </p:nvSpPr>
        <p:spPr>
          <a:xfrm>
            <a:off x="93450" y="1120625"/>
            <a:ext cx="8957100" cy="3073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Native File Formats: Totally Different "Languages"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Siemens NX: Uses </a:t>
            </a:r>
            <a:r>
              <a:rPr lang="en" sz="1050">
                <a:solidFill>
                  <a:srgbClr val="0F1115"/>
                </a:solidFill>
                <a:highlight>
                  <a:srgbClr val="EBEEF2"/>
                </a:highlight>
                <a:latin typeface="Roboto Mono"/>
                <a:ea typeface="Roboto Mono"/>
                <a:cs typeface="Roboto Mono"/>
                <a:sym typeface="Roboto Mono"/>
              </a:rPr>
              <a:t>.prt</a:t>
            </a:r>
            <a:r>
              <a:rPr lang="en" sz="1200">
                <a:solidFill>
                  <a:srgbClr val="0F1115"/>
                </a:solidFill>
                <a:highlight>
                  <a:srgbClr val="FFFFFF"/>
                </a:highlight>
                <a:latin typeface="Roboto"/>
                <a:ea typeface="Roboto"/>
                <a:cs typeface="Roboto"/>
                <a:sym typeface="Roboto"/>
              </a:rPr>
              <a:t> files. Their internal structure is proprietary and built around Siemens' own Parasolid geometry kernel. It contains history-based features (extrudes, revolves, fillets) specific to NX's modeling logic.</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SOLIDWORKS: Uses </a:t>
            </a:r>
            <a:r>
              <a:rPr lang="en" sz="1050">
                <a:solidFill>
                  <a:srgbClr val="0F1115"/>
                </a:solidFill>
                <a:highlight>
                  <a:srgbClr val="EBEEF2"/>
                </a:highlight>
                <a:latin typeface="Roboto Mono"/>
                <a:ea typeface="Roboto Mono"/>
                <a:cs typeface="Roboto Mono"/>
                <a:sym typeface="Roboto Mono"/>
              </a:rPr>
              <a:t>.sldprt</a:t>
            </a:r>
            <a:r>
              <a:rPr lang="en" sz="1200">
                <a:solidFill>
                  <a:srgbClr val="0F1115"/>
                </a:solidFill>
                <a:highlight>
                  <a:srgbClr val="FFFFFF"/>
                </a:highlight>
                <a:latin typeface="Roboto"/>
                <a:ea typeface="Roboto"/>
                <a:cs typeface="Roboto"/>
                <a:sym typeface="Roboto"/>
              </a:rPr>
              <a:t> and </a:t>
            </a:r>
            <a:r>
              <a:rPr lang="en" sz="1050">
                <a:solidFill>
                  <a:srgbClr val="0F1115"/>
                </a:solidFill>
                <a:highlight>
                  <a:srgbClr val="EBEEF2"/>
                </a:highlight>
                <a:latin typeface="Roboto Mono"/>
                <a:ea typeface="Roboto Mono"/>
                <a:cs typeface="Roboto Mono"/>
                <a:sym typeface="Roboto Mono"/>
              </a:rPr>
              <a:t>.sldasm</a:t>
            </a:r>
            <a:r>
              <a:rPr lang="en" sz="1200">
                <a:solidFill>
                  <a:srgbClr val="0F1115"/>
                </a:solidFill>
                <a:highlight>
                  <a:srgbClr val="FFFFFF"/>
                </a:highlight>
                <a:latin typeface="Roboto"/>
                <a:ea typeface="Roboto"/>
                <a:cs typeface="Roboto"/>
                <a:sym typeface="Roboto"/>
              </a:rPr>
              <a:t> files. While it also uses the Parasolid kernel, its feature tree, history, and data structure are completely unique to SOLIDWORKS. A feature created in SOLIDWORKS cannot be natively understood or edited by NX.</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Dassault Systèmes' 3DEXPERIENCE: This is a platform, not just a format. It can use various formats but promotes a cloud-connected data model. Its internal data representation is tailored to its own CAA architecture and is entirely distinct.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Analogy: This is like giving a Spanish book, a Mandarin book, and an Arabic book to someone and asking them to find a specific paragraph. The content might be similar, but the fundamental </a:t>
            </a:r>
            <a:r>
              <a:rPr i="1" lang="en" sz="1200">
                <a:solidFill>
                  <a:srgbClr val="0F1115"/>
                </a:solidFill>
                <a:highlight>
                  <a:srgbClr val="FFFFFF"/>
                </a:highlight>
                <a:latin typeface="Roboto"/>
                <a:ea typeface="Roboto"/>
                <a:cs typeface="Roboto"/>
                <a:sym typeface="Roboto"/>
              </a:rPr>
              <a:t>encoding</a:t>
            </a:r>
            <a:r>
              <a:rPr lang="en" sz="1200">
                <a:solidFill>
                  <a:srgbClr val="0F1115"/>
                </a:solidFill>
                <a:highlight>
                  <a:srgbClr val="FFFFFF"/>
                </a:highlight>
                <a:latin typeface="Roboto"/>
                <a:ea typeface="Roboto"/>
                <a:cs typeface="Roboto"/>
                <a:sym typeface="Roboto"/>
              </a:rPr>
              <a:t> is different.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131"/>
          <p:cNvSpPr txBox="1"/>
          <p:nvPr/>
        </p:nvSpPr>
        <p:spPr>
          <a:xfrm>
            <a:off x="54475" y="630350"/>
            <a:ext cx="8934000" cy="3726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The "Lingua Franca" Attempts (And Why They Fail for AI)</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To exchange data, the industry uses neutral, "dumb" formats like STEP (.stp) or Parasolid Text (.x_t).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they do: They are excellent at translating the explicit geometry—the final shape, the triangles, the surfaces—of a model. They are the "point and grunt" of communication.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they lose: They almost completely strip out the semantic and feature data that an AI needs to be intelligent. This includes: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Design History / Feature Tree: The AI cannot see that a hole was created by the "Extrude-Cut" command. It just sees a hole.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Design Intent: The AI doesn't know if a dimension was </a:t>
            </a:r>
            <a:r>
              <a:rPr lang="en" sz="1050">
                <a:solidFill>
                  <a:srgbClr val="0F1115"/>
                </a:solidFill>
                <a:highlight>
                  <a:srgbClr val="EBEEF2"/>
                </a:highlight>
                <a:latin typeface="Roboto Mono"/>
                <a:ea typeface="Roboto Mono"/>
                <a:cs typeface="Roboto Mono"/>
                <a:sym typeface="Roboto Mono"/>
              </a:rPr>
              <a:t>10.0mm</a:t>
            </a:r>
            <a:r>
              <a:rPr lang="en" sz="1200">
                <a:solidFill>
                  <a:srgbClr val="0F1115"/>
                </a:solidFill>
                <a:highlight>
                  <a:srgbClr val="FFFFFF"/>
                </a:highlight>
                <a:latin typeface="Roboto"/>
                <a:ea typeface="Roboto"/>
                <a:cs typeface="Roboto"/>
                <a:sym typeface="Roboto"/>
              </a:rPr>
              <a:t> or </a:t>
            </a:r>
            <a:r>
              <a:rPr lang="en" sz="1050">
                <a:solidFill>
                  <a:srgbClr val="0F1115"/>
                </a:solidFill>
                <a:highlight>
                  <a:srgbClr val="EBEEF2"/>
                </a:highlight>
                <a:latin typeface="Roboto Mono"/>
                <a:ea typeface="Roboto Mono"/>
                <a:cs typeface="Roboto Mono"/>
                <a:sym typeface="Roboto Mono"/>
              </a:rPr>
              <a:t>=Overall_Length/2</a:t>
            </a:r>
            <a:r>
              <a:rPr lang="en" sz="1200">
                <a:solidFill>
                  <a:srgbClr val="0F1115"/>
                </a:solidFill>
                <a:highlight>
                  <a:srgbClr val="FFFFFF"/>
                </a:highlight>
                <a:latin typeface="Roboto"/>
                <a:ea typeface="Roboto"/>
                <a:cs typeface="Roboto"/>
                <a:sym typeface="Roboto"/>
              </a:rPr>
              <a:t>. It just sees </a:t>
            </a:r>
            <a:r>
              <a:rPr lang="en" sz="1050">
                <a:solidFill>
                  <a:srgbClr val="0F1115"/>
                </a:solidFill>
                <a:highlight>
                  <a:srgbClr val="EBEEF2"/>
                </a:highlight>
                <a:latin typeface="Roboto Mono"/>
                <a:ea typeface="Roboto Mono"/>
                <a:cs typeface="Roboto Mono"/>
                <a:sym typeface="Roboto Mono"/>
              </a:rPr>
              <a:t>10.0mm</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Rich Metadata: Material properties, custom properties, and other non-geometric data are often lost or poorly translated.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Assembly Structure and Constraints: How parts relate to each other in an assembly is frequently flattened or lost.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Analogy: Translating a complex engineering textbook into a neutral language by only copying the pictures and diagrams, but throwing away all the text, captions, and chapter summaries. An AI needs the </a:t>
            </a:r>
            <a:r>
              <a:rPr i="1" lang="en" sz="1200">
                <a:solidFill>
                  <a:srgbClr val="0F1115"/>
                </a:solidFill>
                <a:highlight>
                  <a:srgbClr val="FFFFFF"/>
                </a:highlight>
                <a:latin typeface="Roboto"/>
                <a:ea typeface="Roboto"/>
                <a:cs typeface="Roboto"/>
                <a:sym typeface="Roboto"/>
              </a:rPr>
              <a:t>text</a:t>
            </a:r>
            <a:r>
              <a:rPr lang="en" sz="1200">
                <a:solidFill>
                  <a:srgbClr val="0F1115"/>
                </a:solidFill>
                <a:highlight>
                  <a:srgbClr val="FFFFFF"/>
                </a:highlight>
                <a:latin typeface="Roboto"/>
                <a:ea typeface="Roboto"/>
                <a:cs typeface="Roboto"/>
                <a:sym typeface="Roboto"/>
              </a:rPr>
              <a:t> to understand the </a:t>
            </a:r>
            <a:r>
              <a:rPr i="1" lang="en" sz="1200">
                <a:solidFill>
                  <a:srgbClr val="0F1115"/>
                </a:solidFill>
                <a:highlight>
                  <a:srgbClr val="FFFFFF"/>
                </a:highlight>
                <a:latin typeface="Roboto"/>
                <a:ea typeface="Roboto"/>
                <a:cs typeface="Roboto"/>
                <a:sym typeface="Roboto"/>
              </a:rPr>
              <a:t>context</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32"/>
          <p:cNvSpPr txBox="1"/>
          <p:nvPr/>
        </p:nvSpPr>
        <p:spPr>
          <a:xfrm>
            <a:off x="66150" y="1284050"/>
            <a:ext cx="9011700" cy="287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Platform is the Universal Translator</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why your Data Platform is the non-negotiable first step. Its first and most critical job is to solve this problem. It acts as the universal translator that: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Ingests all the different "languages" (NX, SOLIDWORKS, CATIA files).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Extracts and normalizes the meaningful data from each one into a single, common, AI-friendly schema (e.g., converting all material tags to a standard like "Al6061-T6").</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Stores this enriched data in a neutral, structured format (like a database or knowledge graph) that is </a:t>
            </a:r>
            <a:r>
              <a:rPr i="1" lang="en" sz="1200">
                <a:solidFill>
                  <a:srgbClr val="0F1115"/>
                </a:solidFill>
                <a:highlight>
                  <a:srgbClr val="FFFFFF"/>
                </a:highlight>
                <a:latin typeface="Roboto"/>
                <a:ea typeface="Roboto"/>
                <a:cs typeface="Roboto"/>
                <a:sym typeface="Roboto"/>
              </a:rPr>
              <a:t>independent</a:t>
            </a:r>
            <a:r>
              <a:rPr lang="en" sz="1200">
                <a:solidFill>
                  <a:srgbClr val="0F1115"/>
                </a:solidFill>
                <a:highlight>
                  <a:srgbClr val="FFFFFF"/>
                </a:highlight>
                <a:latin typeface="Roboto"/>
                <a:ea typeface="Roboto"/>
                <a:cs typeface="Roboto"/>
                <a:sym typeface="Roboto"/>
              </a:rPr>
              <a:t> of the original CAD system.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Only then can you point an AI Copilot at this clean, consistent, structured dataset and say "learn from this." The Copilot no longer needs to understand SOLIDWORKS or NX files. It only needs to understand the platform's clean, unified output.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133"/>
          <p:cNvSpPr txBox="1"/>
          <p:nvPr/>
        </p:nvSpPr>
        <p:spPr>
          <a:xfrm>
            <a:off x="0" y="45850"/>
            <a:ext cx="9027300" cy="4517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Solution: Don't Fight the Chaos, Normalize the Output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don't need to make Siemens NX and SOLIDWORKS speak the same language. You need to build a translator that converts both of their languages into a third, common language that the AI can understand.</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sole purpose of the 3D Data Platform.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Here is the technical process: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Ingestion &amp; Translation: The platform uses custom connectors to take a </a:t>
            </a:r>
            <a:r>
              <a:rPr lang="en" sz="1050">
                <a:solidFill>
                  <a:srgbClr val="0F1115"/>
                </a:solidFill>
                <a:highlight>
                  <a:srgbClr val="EBEEF2"/>
                </a:highlight>
                <a:latin typeface="Roboto Mono"/>
                <a:ea typeface="Roboto Mono"/>
                <a:cs typeface="Roboto Mono"/>
                <a:sym typeface="Roboto Mono"/>
              </a:rPr>
              <a:t>.sldprt</a:t>
            </a:r>
            <a:r>
              <a:rPr lang="en" sz="1200">
                <a:solidFill>
                  <a:srgbClr val="0F1115"/>
                </a:solidFill>
                <a:highlight>
                  <a:srgbClr val="FFFFFF"/>
                </a:highlight>
                <a:latin typeface="Roboto"/>
                <a:ea typeface="Roboto"/>
                <a:cs typeface="Roboto"/>
                <a:sym typeface="Roboto"/>
              </a:rPr>
              <a:t> file and a </a:t>
            </a:r>
            <a:r>
              <a:rPr lang="en" sz="1050">
                <a:solidFill>
                  <a:srgbClr val="0F1115"/>
                </a:solidFill>
                <a:highlight>
                  <a:srgbClr val="EBEEF2"/>
                </a:highlight>
                <a:latin typeface="Roboto Mono"/>
                <a:ea typeface="Roboto Mono"/>
                <a:cs typeface="Roboto Mono"/>
                <a:sym typeface="Roboto Mono"/>
              </a:rPr>
              <a:t>.prt</a:t>
            </a:r>
            <a:r>
              <a:rPr lang="en" sz="1200">
                <a:solidFill>
                  <a:srgbClr val="0F1115"/>
                </a:solidFill>
                <a:highlight>
                  <a:srgbClr val="FFFFFF"/>
                </a:highlight>
                <a:latin typeface="Roboto"/>
                <a:ea typeface="Roboto"/>
                <a:cs typeface="Roboto"/>
                <a:sym typeface="Roboto"/>
              </a:rPr>
              <a:t> file. It converts both into a neutral, open format like STEP, glTF, or USD. This step focuses on capturing the explicit geometry (the final shape) accurately.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Yes, this loses the feature history. But for many AI tasks (like identifying a part, estimating its weight, suggesting a material), the final shape is what matters most.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Metadata Extraction &amp; Normalization: This is the most critical step. While converting the geometry, the platform's parsers scrape every piece of metadata from the original file.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From SOLIDWORKS: It reads the </a:t>
            </a:r>
            <a:r>
              <a:rPr lang="en" sz="1050">
                <a:solidFill>
                  <a:srgbClr val="0F1115"/>
                </a:solidFill>
                <a:highlight>
                  <a:srgbClr val="EBEEF2"/>
                </a:highlight>
                <a:latin typeface="Roboto Mono"/>
                <a:ea typeface="Roboto Mono"/>
                <a:cs typeface="Roboto Mono"/>
                <a:sym typeface="Roboto Mono"/>
              </a:rPr>
              <a:t>Custom Properties</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Material</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Part Number</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From Siemens NX: It reads the </a:t>
            </a:r>
            <a:r>
              <a:rPr lang="en" sz="1050">
                <a:solidFill>
                  <a:srgbClr val="0F1115"/>
                </a:solidFill>
                <a:highlight>
                  <a:srgbClr val="EBEEF2"/>
                </a:highlight>
                <a:latin typeface="Roboto Mono"/>
                <a:ea typeface="Roboto Mono"/>
                <a:cs typeface="Roboto Mono"/>
                <a:sym typeface="Roboto Mono"/>
              </a:rPr>
              <a:t>Attributes</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Part Name</a:t>
            </a:r>
            <a:r>
              <a:rPr lang="en" sz="1200">
                <a:solidFill>
                  <a:srgbClr val="0F1115"/>
                </a:solidFill>
                <a:highlight>
                  <a:srgbClr val="FFFFFF"/>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DB_PART_NO</a:t>
            </a:r>
            <a:r>
              <a:rPr lang="en" sz="1200">
                <a:solidFill>
                  <a:srgbClr val="0F1115"/>
                </a:solidFill>
                <a:highlight>
                  <a:srgbClr val="FFFFFF"/>
                </a:highlight>
                <a:latin typeface="Roboto"/>
                <a:ea typeface="Roboto"/>
                <a:cs typeface="Roboto"/>
                <a:sym typeface="Roboto"/>
              </a:rPr>
              <a: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It then takes </a:t>
            </a:r>
            <a:r>
              <a:rPr lang="en" sz="1050">
                <a:solidFill>
                  <a:srgbClr val="0F1115"/>
                </a:solidFill>
                <a:highlight>
                  <a:srgbClr val="EBEEF2"/>
                </a:highlight>
                <a:latin typeface="Roboto Mono"/>
                <a:ea typeface="Roboto Mono"/>
                <a:cs typeface="Roboto Mono"/>
                <a:sym typeface="Roboto Mono"/>
              </a:rPr>
              <a:t>DB_PART_NO</a:t>
            </a:r>
            <a:r>
              <a:rPr lang="en" sz="1200">
                <a:solidFill>
                  <a:srgbClr val="0F1115"/>
                </a:solidFill>
                <a:highlight>
                  <a:srgbClr val="FFFFFF"/>
                </a:highlight>
                <a:latin typeface="Roboto"/>
                <a:ea typeface="Roboto"/>
                <a:cs typeface="Roboto"/>
                <a:sym typeface="Roboto"/>
              </a:rPr>
              <a:t> and </a:t>
            </a:r>
            <a:r>
              <a:rPr lang="en" sz="1050">
                <a:solidFill>
                  <a:srgbClr val="0F1115"/>
                </a:solidFill>
                <a:highlight>
                  <a:srgbClr val="EBEEF2"/>
                </a:highlight>
                <a:latin typeface="Roboto Mono"/>
                <a:ea typeface="Roboto Mono"/>
                <a:cs typeface="Roboto Mono"/>
                <a:sym typeface="Roboto Mono"/>
              </a:rPr>
              <a:t>Part Number</a:t>
            </a:r>
            <a:r>
              <a:rPr lang="en" sz="1200">
                <a:solidFill>
                  <a:srgbClr val="0F1115"/>
                </a:solidFill>
                <a:highlight>
                  <a:srgbClr val="FFFFFF"/>
                </a:highlight>
                <a:latin typeface="Roboto"/>
                <a:ea typeface="Roboto"/>
                <a:cs typeface="Roboto"/>
                <a:sym typeface="Roboto"/>
              </a:rPr>
              <a:t> and maps them both to a common field called </a:t>
            </a:r>
            <a:r>
              <a:rPr lang="en" sz="1050">
                <a:solidFill>
                  <a:srgbClr val="0F1115"/>
                </a:solidFill>
                <a:highlight>
                  <a:srgbClr val="EBEEF2"/>
                </a:highlight>
                <a:latin typeface="Roboto Mono"/>
                <a:ea typeface="Roboto Mono"/>
                <a:cs typeface="Roboto Mono"/>
                <a:sym typeface="Roboto Mono"/>
              </a:rPr>
              <a:t>part_id</a:t>
            </a:r>
            <a:r>
              <a:rPr lang="en" sz="1200">
                <a:solidFill>
                  <a:srgbClr val="0F1115"/>
                </a:solidFill>
                <a:highlight>
                  <a:srgbClr val="FFFFFF"/>
                </a:highlight>
                <a:latin typeface="Roboto"/>
                <a:ea typeface="Roboto"/>
                <a:cs typeface="Roboto"/>
                <a:sym typeface="Roboto"/>
              </a:rPr>
              <a:t> in its own database. It takes all the different material names and maps them to a standard list from a materials library.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id="662" name="Google Shape;662;p134"/>
          <p:cNvPicPr preferRelativeResize="0"/>
          <p:nvPr/>
        </p:nvPicPr>
        <p:blipFill>
          <a:blip r:embed="rId3">
            <a:alphaModFix/>
          </a:blip>
          <a:stretch>
            <a:fillRect/>
          </a:stretch>
        </p:blipFill>
        <p:spPr>
          <a:xfrm>
            <a:off x="1950725" y="2299125"/>
            <a:ext cx="4628826" cy="2594175"/>
          </a:xfrm>
          <a:prstGeom prst="rect">
            <a:avLst/>
          </a:prstGeom>
          <a:noFill/>
          <a:ln>
            <a:noFill/>
          </a:ln>
        </p:spPr>
      </p:pic>
      <p:sp>
        <p:nvSpPr>
          <p:cNvPr id="663" name="Google Shape;663;p134"/>
          <p:cNvSpPr txBox="1"/>
          <p:nvPr/>
        </p:nvSpPr>
        <p:spPr>
          <a:xfrm>
            <a:off x="207125" y="48325"/>
            <a:ext cx="8236500" cy="21186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700"/>
              </a:spcBef>
              <a:spcAft>
                <a:spcPts val="0"/>
              </a:spcAft>
              <a:buNone/>
            </a:pPr>
            <a:r>
              <a:rPr lang="en" sz="1200">
                <a:solidFill>
                  <a:srgbClr val="0F1115"/>
                </a:solidFill>
                <a:highlight>
                  <a:schemeClr val="lt1"/>
                </a:highlight>
                <a:latin typeface="Roboto"/>
                <a:ea typeface="Roboto"/>
                <a:cs typeface="Roboto"/>
                <a:sym typeface="Roboto"/>
              </a:rPr>
              <a:t>3. Enrichment (The Secret Sauce): The platform then adds intelligence that wasn't in the original file.</a:t>
            </a:r>
            <a:endParaRPr sz="1200">
              <a:solidFill>
                <a:srgbClr val="0F1115"/>
              </a:solidFill>
              <a:highlight>
                <a:schemeClr val="lt1"/>
              </a:highlight>
              <a:latin typeface="Roboto"/>
              <a:ea typeface="Roboto"/>
              <a:cs typeface="Roboto"/>
              <a:sym typeface="Roboto"/>
            </a:endParaRPr>
          </a:p>
          <a:p>
            <a:pPr indent="-304800" lvl="1" marL="914400" rtl="0" algn="l">
              <a:lnSpc>
                <a:spcPct val="115000"/>
              </a:lnSpc>
              <a:spcBef>
                <a:spcPts val="2000"/>
              </a:spcBef>
              <a:spcAft>
                <a:spcPts val="0"/>
              </a:spcAft>
              <a:buClr>
                <a:srgbClr val="0F1115"/>
              </a:buClr>
              <a:buSzPts val="1200"/>
              <a:buFont typeface="Roboto"/>
              <a:buChar char="○"/>
            </a:pPr>
            <a:r>
              <a:rPr lang="en" sz="1200">
                <a:solidFill>
                  <a:srgbClr val="0F1115"/>
                </a:solidFill>
                <a:highlight>
                  <a:schemeClr val="lt1"/>
                </a:highlight>
                <a:latin typeface="Roboto"/>
                <a:ea typeface="Roboto"/>
                <a:cs typeface="Roboto"/>
                <a:sym typeface="Roboto"/>
              </a:rPr>
              <a:t>It runs a geometric analysis on the neutral file to calculate properties like </a:t>
            </a:r>
            <a:r>
              <a:rPr lang="en" sz="1050">
                <a:solidFill>
                  <a:srgbClr val="0F1115"/>
                </a:solidFill>
                <a:highlight>
                  <a:srgbClr val="EBEEF2"/>
                </a:highlight>
                <a:latin typeface="Roboto Mono"/>
                <a:ea typeface="Roboto Mono"/>
                <a:cs typeface="Roboto Mono"/>
                <a:sym typeface="Roboto Mono"/>
              </a:rPr>
              <a:t>volume</a:t>
            </a:r>
            <a:r>
              <a:rPr lang="en" sz="1200">
                <a:solidFill>
                  <a:srgbClr val="0F1115"/>
                </a:solidFill>
                <a:highlight>
                  <a:schemeClr val="lt1"/>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bounding_box</a:t>
            </a:r>
            <a:r>
              <a:rPr lang="en" sz="1200">
                <a:solidFill>
                  <a:srgbClr val="0F1115"/>
                </a:solidFill>
                <a:highlight>
                  <a:schemeClr val="lt1"/>
                </a:highlight>
                <a:latin typeface="Roboto"/>
                <a:ea typeface="Roboto"/>
                <a:cs typeface="Roboto"/>
                <a:sym typeface="Roboto"/>
              </a:rPr>
              <a:t>, </a:t>
            </a:r>
            <a:r>
              <a:rPr lang="en" sz="1050">
                <a:solidFill>
                  <a:srgbClr val="0F1115"/>
                </a:solidFill>
                <a:highlight>
                  <a:srgbClr val="EBEEF2"/>
                </a:highlight>
                <a:latin typeface="Roboto Mono"/>
                <a:ea typeface="Roboto Mono"/>
                <a:cs typeface="Roboto Mono"/>
                <a:sym typeface="Roboto Mono"/>
              </a:rPr>
              <a:t>center_of_mass</a:t>
            </a:r>
            <a:r>
              <a:rPr lang="en" sz="1200">
                <a:solidFill>
                  <a:srgbClr val="0F1115"/>
                </a:solidFill>
                <a:highlight>
                  <a:schemeClr val="lt1"/>
                </a:highlight>
                <a:latin typeface="Roboto"/>
                <a:ea typeface="Roboto"/>
                <a:cs typeface="Roboto"/>
                <a:sym typeface="Roboto"/>
              </a:rPr>
              <a:t>.</a:t>
            </a:r>
            <a:endParaRPr sz="1200">
              <a:solidFill>
                <a:srgbClr val="0F1115"/>
              </a:solidFill>
              <a:highlight>
                <a:schemeClr val="lt1"/>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chemeClr val="lt1"/>
                </a:highlight>
                <a:latin typeface="Roboto"/>
                <a:ea typeface="Roboto"/>
                <a:cs typeface="Roboto"/>
                <a:sym typeface="Roboto"/>
              </a:rPr>
              <a:t>It uses a machine learning model to classify the part based on its shape (e.g., "bracket," "housing," "shaft").</a:t>
            </a:r>
            <a:endParaRPr sz="1200">
              <a:solidFill>
                <a:srgbClr val="0F1115"/>
              </a:solidFill>
              <a:highlight>
                <a:schemeClr val="lt1"/>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chemeClr val="lt1"/>
                </a:highlight>
                <a:latin typeface="Roboto"/>
                <a:ea typeface="Roboto"/>
                <a:cs typeface="Roboto"/>
                <a:sym typeface="Roboto"/>
              </a:rPr>
              <a:t>It connects to the ERP system to pull in the </a:t>
            </a:r>
            <a:r>
              <a:rPr lang="en" sz="1050">
                <a:solidFill>
                  <a:srgbClr val="0F1115"/>
                </a:solidFill>
                <a:highlight>
                  <a:srgbClr val="EBEEF2"/>
                </a:highlight>
                <a:latin typeface="Roboto Mono"/>
                <a:ea typeface="Roboto Mono"/>
                <a:cs typeface="Roboto Mono"/>
                <a:sym typeface="Roboto Mono"/>
              </a:rPr>
              <a:t>supplier_name</a:t>
            </a:r>
            <a:r>
              <a:rPr lang="en" sz="1200">
                <a:solidFill>
                  <a:srgbClr val="0F1115"/>
                </a:solidFill>
                <a:highlight>
                  <a:schemeClr val="lt1"/>
                </a:highlight>
                <a:latin typeface="Roboto"/>
                <a:ea typeface="Roboto"/>
                <a:cs typeface="Roboto"/>
                <a:sym typeface="Roboto"/>
              </a:rPr>
              <a:t> and </a:t>
            </a:r>
            <a:r>
              <a:rPr lang="en" sz="1050">
                <a:solidFill>
                  <a:srgbClr val="0F1115"/>
                </a:solidFill>
                <a:highlight>
                  <a:srgbClr val="EBEEF2"/>
                </a:highlight>
                <a:latin typeface="Roboto Mono"/>
                <a:ea typeface="Roboto Mono"/>
                <a:cs typeface="Roboto Mono"/>
                <a:sym typeface="Roboto Mono"/>
              </a:rPr>
              <a:t>project_code</a:t>
            </a:r>
            <a:r>
              <a:rPr lang="en" sz="1200">
                <a:solidFill>
                  <a:srgbClr val="0F1115"/>
                </a:solidFill>
                <a:highlight>
                  <a:schemeClr val="lt1"/>
                </a:highlight>
                <a:latin typeface="Roboto"/>
                <a:ea typeface="Roboto"/>
                <a:cs typeface="Roboto"/>
                <a:sym typeface="Roboto"/>
              </a:rPr>
              <a:t> for that </a:t>
            </a:r>
            <a:r>
              <a:rPr lang="en" sz="1050">
                <a:solidFill>
                  <a:srgbClr val="0F1115"/>
                </a:solidFill>
                <a:highlight>
                  <a:srgbClr val="EBEEF2"/>
                </a:highlight>
                <a:latin typeface="Roboto Mono"/>
                <a:ea typeface="Roboto Mono"/>
                <a:cs typeface="Roboto Mono"/>
                <a:sym typeface="Roboto Mono"/>
              </a:rPr>
              <a:t>part_id</a:t>
            </a:r>
            <a:r>
              <a:rPr lang="en" sz="1200">
                <a:solidFill>
                  <a:srgbClr val="0F1115"/>
                </a:solidFill>
                <a:highlight>
                  <a:schemeClr val="lt1"/>
                </a:highlight>
                <a:latin typeface="Roboto"/>
                <a:ea typeface="Roboto"/>
                <a:cs typeface="Roboto"/>
                <a:sym typeface="Roboto"/>
              </a:rPr>
              <a:t>.</a:t>
            </a:r>
            <a:endParaRPr sz="1200">
              <a:solidFill>
                <a:srgbClr val="0F1115"/>
              </a:solidFill>
              <a:highlight>
                <a:schemeClr val="lt1"/>
              </a:highlight>
              <a:latin typeface="Roboto"/>
              <a:ea typeface="Roboto"/>
              <a:cs typeface="Roboto"/>
              <a:sym typeface="Roboto"/>
            </a:endParaRPr>
          </a:p>
          <a:p>
            <a:pPr indent="0" lvl="0" marL="457200" rtl="0" algn="l">
              <a:lnSpc>
                <a:spcPct val="115000"/>
              </a:lnSpc>
              <a:spcBef>
                <a:spcPts val="1700"/>
              </a:spcBef>
              <a:spcAft>
                <a:spcPts val="1200"/>
              </a:spcAft>
              <a:buNone/>
            </a:pPr>
            <a:r>
              <a:rPr lang="en" sz="1200">
                <a:solidFill>
                  <a:srgbClr val="0F1115"/>
                </a:solidFill>
                <a:highlight>
                  <a:schemeClr val="lt1"/>
                </a:highlight>
                <a:latin typeface="Roboto"/>
                <a:ea typeface="Roboto"/>
                <a:cs typeface="Roboto"/>
                <a:sym typeface="Roboto"/>
              </a:rPr>
              <a:t>4. Creation of an AI-Ready Dataset: The platform doesn't store the original CAD files for the AI. It stores a structured database record that looks like this:</a:t>
            </a:r>
            <a:endParaRPr sz="1200">
              <a:solidFill>
                <a:srgbClr val="0F1115"/>
              </a:solidFill>
              <a:highlight>
                <a:schemeClr val="lt1"/>
              </a:highlight>
              <a:latin typeface="Roboto"/>
              <a:ea typeface="Roboto"/>
              <a:cs typeface="Roboto"/>
              <a:sym typeface="Roboto"/>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35"/>
          <p:cNvSpPr txBox="1"/>
          <p:nvPr/>
        </p:nvSpPr>
        <p:spPr>
          <a:xfrm>
            <a:off x="1491275" y="1133400"/>
            <a:ext cx="6289500" cy="287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Core Challenge: From a Dumb Shape to an Intelligent Object</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 STEP file (or glTF, USD, etc.) gives you a "dumb" geometric shape. It does not tell you:</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 a bolt."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 the head of the bolt."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is the thread."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surface mates with this flange."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"This part is made of titanium and this one is aluminum."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Turning that dumb shape into an intelligent, annotated object is the fundamental challenge. This process is called geometric feature recognition or semantic segmentation, and it is an active area of research at companies like NVIDIA, Siemens, and Autodesk.</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36"/>
          <p:cNvSpPr txBox="1"/>
          <p:nvPr/>
        </p:nvSpPr>
        <p:spPr>
          <a:xfrm>
            <a:off x="3293225" y="22784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 It is a rocket science-level challenge</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37"/>
          <p:cNvSpPr txBox="1"/>
          <p:nvPr/>
        </p:nvSpPr>
        <p:spPr>
          <a:xfrm>
            <a:off x="105150" y="179500"/>
            <a:ext cx="8933700" cy="4847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NVIDIA: The Omniverse and AI Foundation Models</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NVIDIA is arguably the biggest player betting on this future. Their entire Omniverse strategy relies on teaching AI to understand 3D scenes and geometry.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Proof Point: NVIDIA AI Foundation Models for 3D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NVIDIA is developing massive AI models pre-trained on vast datasets of 3D objects to understand and generate 3D geometry. This is a direct investment in solving the "geometry understanding" problem at scale.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Evidence: "NVIDIA introduced new generative AI capabilities for building 3D tools and applications... enabling developers to create and operate 3D tools and applications... using generative AI and NVIDIA accelerated computing."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 matters: You don't build foundation models for something unless it's a fundamental, high-value research problem.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Proof Point: Universal Scene Description (USD)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USD is not just a file format; it's a framework for encoding complex 3D scenes with rich layers, attributes, and semantics. NVIDIA's massive bet on Omniverse is a bet on USD </a:t>
            </a:r>
            <a:r>
              <a:rPr i="1" lang="en" sz="1200">
                <a:solidFill>
                  <a:srgbClr val="0F1115"/>
                </a:solidFill>
                <a:highlight>
                  <a:srgbClr val="FFFFFF"/>
                </a:highlight>
                <a:latin typeface="Roboto"/>
                <a:ea typeface="Roboto"/>
                <a:cs typeface="Roboto"/>
                <a:sym typeface="Roboto"/>
              </a:rPr>
              <a:t>becoming</a:t>
            </a:r>
            <a:r>
              <a:rPr lang="en" sz="1200">
                <a:solidFill>
                  <a:srgbClr val="0F1115"/>
                </a:solidFill>
                <a:highlight>
                  <a:srgbClr val="FFFFFF"/>
                </a:highlight>
                <a:latin typeface="Roboto"/>
                <a:ea typeface="Roboto"/>
                <a:cs typeface="Roboto"/>
                <a:sym typeface="Roboto"/>
              </a:rPr>
              <a:t> the standard "language" for exchanging not just geometry, but meaning.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Evidence: "NVIDIA is... developing powerful generative AI capabilities on its cloud services for 3D content creation... to help teams across the manufacturing, automotive, and other industries... create digital twins and other virtual environments."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 matters: USD is the vehicle for adding semantic meaning (e.g., "this is a car door," "this is a moving part") to raw geometry, which is the essence of semantic segmentation.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38"/>
          <p:cNvSpPr txBox="1"/>
          <p:nvPr/>
        </p:nvSpPr>
        <p:spPr>
          <a:xfrm>
            <a:off x="143100" y="110475"/>
            <a:ext cx="8857800" cy="2935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Siemens: The Industrial Metaverse and AI-Driven Design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Siemens needs to solve this problem to make their vision of the "industrial metaverse" a reality, where digital twins are intelligent, not just visual.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Proof Point: Siemens and NVIDIA Partnership</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A strategic partnership to "connect the Siemens Xcelerator and NVIDIA Omniverse platforms to create an industrial metaverse." The core of this is bringing AI-powered realism and simulation to Siemens' engineering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Evidence: "The companies will... create a digital twin that combines Siemens’ mechanical, electrical, and software design tools with NVIDIA’s accelerated computing and AI... to provide real-time performance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 matters: This partnership is explicitly about infusing Siemens' engineering models with the AI capabilities to make them intelligent, interactive, and queryable—which requires deep geometric understanding.</a:t>
            </a:r>
            <a:endParaRPr sz="1200">
              <a:solidFill>
                <a:srgbClr val="0F1115"/>
              </a:solidFill>
              <a:highlight>
                <a:srgbClr val="FFFFFF"/>
              </a:highlight>
              <a:latin typeface="Roboto"/>
              <a:ea typeface="Roboto"/>
              <a:cs typeface="Roboto"/>
              <a:sym typeface="Roboto"/>
            </a:endParaRPr>
          </a:p>
        </p:txBody>
      </p:sp>
      <p:sp>
        <p:nvSpPr>
          <p:cNvPr id="684" name="Google Shape;684;p138"/>
          <p:cNvSpPr txBox="1"/>
          <p:nvPr/>
        </p:nvSpPr>
        <p:spPr>
          <a:xfrm>
            <a:off x="89750" y="2982550"/>
            <a:ext cx="8706000" cy="20688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7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Proof Point: Siemens' Own AI Research</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Siemens has dedicated AI research labs (e.g., Siemens Technology) focused on applying machine learning to engineering data. A key focus is " generative design" and "AI-assisted engineering," which require the AI to understand the function and constraints of geometric features.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Evidence: Research papers and projects from Siemens labs frequently focus on topics like "geometric deep learning for CAD models" and "anomaly detection in 3D printing," which require segmenting and understanding geometric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 matters: They are actively publishing and patenting in this space, proving it's a core R&amp;D priority, not just a partnership.</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39"/>
          <p:cNvSpPr txBox="1"/>
          <p:nvPr/>
        </p:nvSpPr>
        <p:spPr>
          <a:xfrm>
            <a:off x="69040" y="186428"/>
            <a:ext cx="8996100" cy="4634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Autodesk: Fusion 360 and AI-Powered Automation</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Autodesk is embedding AI directly into its design tools to automate the tedious parts of the design process, which requires understanding the user's intent from the geometry.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Proof Point: Autodesk AI</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A dedicated initiative to integrate AI across Autodesk's products. Features like "Generative Design" in Fusion 360 require the system to understand geometric constraints and objectives to propose valid design alternatives.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Evidence: "Autodesk AI is embedded in our design and make products... It helps customers... explore design options in generative design... automate repetitive tasks."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 matters: "Exploring design options" means the AI must understand that moving a mounting hole might affect the strength of a rib. This is geometric feature recognition in action.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Proof Point: Research on Machine Learning for CAD</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What it is: Autodesk Research publishes work on topics like "Machine Learning for CAD" which involves developing graph neural networks (GNNs) to understand the design sequence and relationships between features in a CAD model's history tree.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Evidence: Projects explore how to use AI to convert a dumb mesh back into a editable, parametric CAD feature tree—the holy grail of geometric feature recognition.</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Why it matters: This is direct evidence of trying to solve the "dumb geometry" problem you identified. They are actively researching how to add intelligence back in.</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40"/>
          <p:cNvSpPr txBox="1"/>
          <p:nvPr/>
        </p:nvSpPr>
        <p:spPr>
          <a:xfrm>
            <a:off x="4073375" y="21265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Challenges</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41"/>
          <p:cNvSpPr txBox="1"/>
          <p:nvPr/>
        </p:nvSpPr>
        <p:spPr>
          <a:xfrm>
            <a:off x="198325" y="1181100"/>
            <a:ext cx="8816400" cy="2781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Geometry Data Abyss (It's So Much Worse Than Splitting Files)</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"Dumb Geometry" Problem: You can convert a STEP file into a mesh or point cloud. But you've just turned a smart, parametric feature (e.g., "Extrude-Cut with a 10mm diameter") into a dumb, stupid bunch of triangles. The AI now has to </a:t>
            </a:r>
            <a:r>
              <a:rPr i="1" lang="en" sz="1200">
                <a:solidFill>
                  <a:srgbClr val="0F1115"/>
                </a:solidFill>
                <a:highlight>
                  <a:srgbClr val="FFFFFF"/>
                </a:highlight>
                <a:latin typeface="Roboto"/>
                <a:ea typeface="Roboto"/>
                <a:cs typeface="Roboto"/>
                <a:sym typeface="Roboto"/>
              </a:rPr>
              <a:t>guess</a:t>
            </a:r>
            <a:r>
              <a:rPr lang="en" sz="1200">
                <a:solidFill>
                  <a:srgbClr val="0F1115"/>
                </a:solidFill>
                <a:highlight>
                  <a:srgbClr val="FFFFFF"/>
                </a:highlight>
                <a:latin typeface="Roboto"/>
                <a:ea typeface="Roboto"/>
                <a:cs typeface="Roboto"/>
                <a:sym typeface="Roboto"/>
              </a:rPr>
              <a:t> that this group of triangles is a "hole." This is called geometric feature recognition and is a PhD-level computer vision problem. It is not solved.</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Precision Problem: Engineering is built on precision. An AI that generates a hole that is "roughly 6mm" is worse than useless. It's dangerous. How do you ensure the AI's output is not just visually plausible but dimensionally and tolerantly perfect for manufacturing?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Topology Problem: A "hole" isn't just a hole. Is it a blind hole? A through hole? A counterbored hole? A tapped hole? Each has vastly different geometric representations and manufacturing processes. The AI must not just generate shapes, it must understand design intent and manufacturing constraints.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42"/>
          <p:cNvSpPr txBox="1"/>
          <p:nvPr/>
        </p:nvSpPr>
        <p:spPr>
          <a:xfrm>
            <a:off x="350125" y="1111550"/>
            <a:ext cx="8540400" cy="2993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 2. The NLP Illusion (Linking Words to Shapes is a Joke)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Ambiguity Hell: "Make a strong hole."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Does that mean make the hole itself stronger (impossible)?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Does it mean make the part stronger by adding a hole in the right spot to reduce stress?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Does it mean use a stronger material around the hole?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Natural language is hopelessly ambiguous for precision engineering.</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Context Black Hole: The command "add an M6 hole" is meaningless without context.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Where? On which face?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How deep? To what tolerance?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For what purpose? To clear a bolt? To vent pressure? To reduce weight?</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AI needs the entire context of the assembly, the forces involved, and the manufacturing capabilities to even begin. It doesn't have it.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143"/>
          <p:cNvSpPr txBox="1"/>
          <p:nvPr/>
        </p:nvSpPr>
        <p:spPr>
          <a:xfrm>
            <a:off x="248550" y="1605900"/>
            <a:ext cx="8492100" cy="193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The Data Fidelity Nightmare (The Training Data Doesn't Exist)</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 Have No Labeled Data: To train an AI to "understand" a hole, you need millions of 3D models where every single hole is perfectly labeled with its type, diameter, depth, tolerance, and purpose. This data does not exist. It would take an army of engineers centuries to create it manually.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Synthetic Data is a Lie: You can generate synthetic holes on synthetic parts. But the AI will only learn to recognize synthetic holes. It will be useless on the messy, complex, real-world geometries from your actual projects. This is called the simulation-to-reality gap.</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44"/>
          <p:cNvSpPr txBox="1"/>
          <p:nvPr/>
        </p:nvSpPr>
        <p:spPr>
          <a:xfrm>
            <a:off x="255450" y="1877900"/>
            <a:ext cx="8415900" cy="171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4. The Integration Monster (The CAD Kernel Prison)</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CAD Software is a Walled Garden: NX, SOLIDWORKS, CATIA—they all have their own proprietary geometric kernels (Parasolid, ACIS, CGM). You can't just push AI-generated geometry into them. The AI's output would be a "dumb" mesh that can't be edited parametrically. It would break the entire CAD workflow.</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You're Building a Island: Any AI tool you build would exist </a:t>
            </a:r>
            <a:r>
              <a:rPr i="1" lang="en" sz="1200">
                <a:solidFill>
                  <a:srgbClr val="0F1115"/>
                </a:solidFill>
                <a:highlight>
                  <a:srgbClr val="FFFFFF"/>
                </a:highlight>
                <a:latin typeface="Roboto"/>
                <a:ea typeface="Roboto"/>
                <a:cs typeface="Roboto"/>
                <a:sym typeface="Roboto"/>
              </a:rPr>
              <a:t>outside</a:t>
            </a:r>
            <a:r>
              <a:rPr lang="en" sz="1200">
                <a:solidFill>
                  <a:srgbClr val="0F1115"/>
                </a:solidFill>
                <a:highlight>
                  <a:srgbClr val="FFFFFF"/>
                </a:highlight>
                <a:latin typeface="Roboto"/>
                <a:ea typeface="Roboto"/>
                <a:cs typeface="Roboto"/>
                <a:sym typeface="Roboto"/>
              </a:rPr>
              <a:t> the engineer's primary CAD system. They would have to constantly switch windows, breaking their flow and ensuring the tool never gets used.</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145"/>
          <p:cNvSpPr txBox="1"/>
          <p:nvPr/>
        </p:nvSpPr>
        <p:spPr>
          <a:xfrm>
            <a:off x="545425" y="1862350"/>
            <a:ext cx="7939500" cy="1294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5. The Liability Apocalypse (Who Gets Sued?)</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Who signs off on the AI's design? The engineer. So the engineer will have to completely check and validate every single AI output before using it. This destroys any supposed time savings and adds immense legal and professional risk. If the AI-generated hole fails and a plane crashes, ST Engineering is liable, not the AI.</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46"/>
          <p:cNvSpPr txBox="1"/>
          <p:nvPr/>
        </p:nvSpPr>
        <p:spPr>
          <a:xfrm>
            <a:off x="4073375" y="21265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F1115"/>
                </a:solidFill>
                <a:highlight>
                  <a:srgbClr val="FFFFFF"/>
                </a:highlight>
                <a:latin typeface="Roboto"/>
                <a:ea typeface="Roboto"/>
                <a:cs typeface="Roboto"/>
                <a:sym typeface="Roboto"/>
              </a:rPr>
              <a:t>Hire Experts </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47"/>
          <p:cNvSpPr txBox="1"/>
          <p:nvPr/>
        </p:nvSpPr>
        <p:spPr>
          <a:xfrm>
            <a:off x="263850" y="1074900"/>
            <a:ext cx="8616300" cy="2993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1. The "Hire an Expert" Fallacy</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One Expert vs. an Army: Siemens doesn't just have 100 experts. They have entire divisions dedicated to this. They have thousands of software engineers, PhDs in computational geometry, and massive datasets you can never access. Your one expert would be spending all their time just </a:t>
            </a:r>
            <a:r>
              <a:rPr i="1" lang="en" sz="1200">
                <a:solidFill>
                  <a:srgbClr val="0F1115"/>
                </a:solidFill>
                <a:highlight>
                  <a:srgbClr val="FFFFFF"/>
                </a:highlight>
                <a:latin typeface="Roboto"/>
                <a:ea typeface="Roboto"/>
                <a:cs typeface="Roboto"/>
                <a:sym typeface="Roboto"/>
              </a:rPr>
              <a:t>reading</a:t>
            </a:r>
            <a:r>
              <a:rPr lang="en" sz="1200">
                <a:solidFill>
                  <a:srgbClr val="0F1115"/>
                </a:solidFill>
                <a:highlight>
                  <a:srgbClr val="FFFFFF"/>
                </a:highlight>
                <a:latin typeface="Roboto"/>
                <a:ea typeface="Roboto"/>
                <a:cs typeface="Roboto"/>
                <a:sym typeface="Roboto"/>
              </a:rPr>
              <a:t> the research papers Siemens </a:t>
            </a:r>
            <a:r>
              <a:rPr i="1" lang="en" sz="1200">
                <a:solidFill>
                  <a:srgbClr val="0F1115"/>
                </a:solidFill>
                <a:highlight>
                  <a:srgbClr val="FFFFFF"/>
                </a:highlight>
                <a:latin typeface="Roboto"/>
                <a:ea typeface="Roboto"/>
                <a:cs typeface="Roboto"/>
                <a:sym typeface="Roboto"/>
              </a:rPr>
              <a:t>publishes</a:t>
            </a:r>
            <a:r>
              <a:rPr lang="en" sz="1200">
                <a:solidFill>
                  <a:srgbClr val="0F1115"/>
                </a:solidFill>
                <a:highlight>
                  <a:srgbClr val="FFFFFF"/>
                </a:highlight>
                <a:latin typeface="Roboto"/>
                <a:ea typeface="Roboto"/>
                <a:cs typeface="Roboto"/>
                <a:sym typeface="Roboto"/>
              </a:rPr>
              <a:t>, let alone competing with them.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Scale of the Problem: This isn't a problem one person solves. It's a pipeline of nightmare problems: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Data Ingestion (a systems engineering problem)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Geometry Processing (a computational geometry problem)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Feature Recognition (a machine learning problem)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NLP Integration (a natural language processing problem)</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CAD Integration (a reverse-engineering problem)</a:t>
            </a:r>
            <a:br>
              <a:rPr lang="en" sz="1200">
                <a:solidFill>
                  <a:srgbClr val="0F1115"/>
                </a:solidFill>
                <a:highlight>
                  <a:srgbClr val="FFFFFF"/>
                </a:highlight>
                <a:latin typeface="Roboto"/>
                <a:ea typeface="Roboto"/>
                <a:cs typeface="Roboto"/>
                <a:sym typeface="Roboto"/>
              </a:rPr>
            </a:br>
            <a:r>
              <a:rPr lang="en" sz="1200">
                <a:solidFill>
                  <a:srgbClr val="0F1115"/>
                </a:solidFill>
                <a:highlight>
                  <a:srgbClr val="FFFFFF"/>
                </a:highlight>
                <a:latin typeface="Roboto"/>
                <a:ea typeface="Roboto"/>
                <a:cs typeface="Roboto"/>
                <a:sym typeface="Roboto"/>
              </a:rPr>
              <a:t>You need a </a:t>
            </a:r>
            <a:r>
              <a:rPr i="1" lang="en" sz="1200">
                <a:solidFill>
                  <a:srgbClr val="0F1115"/>
                </a:solidFill>
                <a:highlight>
                  <a:srgbClr val="FFFFFF"/>
                </a:highlight>
                <a:latin typeface="Roboto"/>
                <a:ea typeface="Roboto"/>
                <a:cs typeface="Roboto"/>
                <a:sym typeface="Roboto"/>
              </a:rPr>
              <a:t>team</a:t>
            </a:r>
            <a:r>
              <a:rPr lang="en" sz="1200">
                <a:solidFill>
                  <a:srgbClr val="0F1115"/>
                </a:solidFill>
                <a:highlight>
                  <a:srgbClr val="FFFFFF"/>
                </a:highlight>
                <a:latin typeface="Roboto"/>
                <a:ea typeface="Roboto"/>
                <a:cs typeface="Roboto"/>
                <a:sym typeface="Roboto"/>
              </a:rPr>
              <a:t> of experts, not one.</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48"/>
          <p:cNvSpPr txBox="1"/>
          <p:nvPr/>
        </p:nvSpPr>
        <p:spPr>
          <a:xfrm>
            <a:off x="256950" y="1222000"/>
            <a:ext cx="8630100" cy="245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2. What Siemens (and NVIDIA, Autodesk) Are </a:t>
            </a:r>
            <a:r>
              <a:rPr b="1" i="1" lang="en" sz="1500">
                <a:solidFill>
                  <a:srgbClr val="0F1115"/>
                </a:solidFill>
                <a:highlight>
                  <a:srgbClr val="FFFFFF"/>
                </a:highlight>
                <a:latin typeface="Roboto"/>
                <a:ea typeface="Roboto"/>
                <a:cs typeface="Roboto"/>
                <a:sym typeface="Roboto"/>
              </a:rPr>
              <a:t>Actually</a:t>
            </a:r>
            <a:r>
              <a:rPr b="1" lang="en" sz="1500">
                <a:solidFill>
                  <a:srgbClr val="0F1115"/>
                </a:solidFill>
                <a:highlight>
                  <a:srgbClr val="FFFFFF"/>
                </a:highlight>
                <a:latin typeface="Roboto"/>
                <a:ea typeface="Roboto"/>
                <a:cs typeface="Roboto"/>
                <a:sym typeface="Roboto"/>
              </a:rPr>
              <a:t> Doing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They are not just hiring more experts than you. They are solving a completely different problem:</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are building platforms and ecosystems.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Siemens Xcelerator and NVIDIA Omniverse are not just tools; they are foundations. They are creating the standard "language" (like USD) that everyone else will be forced to use.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Their strategy is to make their platform the central nervous system of all manufacturing data. Once they own the platform, they don't care what software you use—as long as it all flows through </a:t>
            </a:r>
            <a:r>
              <a:rPr i="1" lang="en" sz="1200">
                <a:solidFill>
                  <a:srgbClr val="0F1115"/>
                </a:solidFill>
                <a:highlight>
                  <a:srgbClr val="FFFFFF"/>
                </a:highlight>
                <a:latin typeface="Roboto"/>
                <a:ea typeface="Roboto"/>
                <a:cs typeface="Roboto"/>
                <a:sym typeface="Roboto"/>
              </a:rPr>
              <a:t>their</a:t>
            </a:r>
            <a:r>
              <a:rPr lang="en" sz="1200">
                <a:solidFill>
                  <a:srgbClr val="0F1115"/>
                </a:solidFill>
                <a:highlight>
                  <a:srgbClr val="FFFFFF"/>
                </a:highlight>
                <a:latin typeface="Roboto"/>
                <a:ea typeface="Roboto"/>
                <a:cs typeface="Roboto"/>
                <a:sym typeface="Roboto"/>
              </a:rPr>
              <a:t> system.</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None/>
            </a:pPr>
            <a:r>
              <a:rPr lang="en" sz="1200">
                <a:solidFill>
                  <a:srgbClr val="0F1115"/>
                </a:solidFill>
                <a:highlight>
                  <a:srgbClr val="FFFFFF"/>
                </a:highlight>
                <a:latin typeface="Roboto"/>
                <a:ea typeface="Roboto"/>
                <a:cs typeface="Roboto"/>
                <a:sym typeface="Roboto"/>
              </a:rPr>
              <a:t>They are playing a game of chess. Your teammate is proposing a game of checkers, and we don't even have all the pieces.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149"/>
          <p:cNvSpPr txBox="1"/>
          <p:nvPr/>
        </p:nvSpPr>
        <p:spPr>
          <a:xfrm>
            <a:off x="462575" y="1332475"/>
            <a:ext cx="8353800" cy="272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3. What Palantir (and Other "Data Platform" Companies) Are Doing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This is the key. You think the competition is Siemens on the AI front. The real competition is companies like Palantir on the </a:t>
            </a:r>
            <a:r>
              <a:rPr i="1" lang="en" sz="1200">
                <a:solidFill>
                  <a:srgbClr val="0F1115"/>
                </a:solidFill>
                <a:highlight>
                  <a:srgbClr val="FFFFFF"/>
                </a:highlight>
                <a:latin typeface="Roboto"/>
                <a:ea typeface="Roboto"/>
                <a:cs typeface="Roboto"/>
                <a:sym typeface="Roboto"/>
              </a:rPr>
              <a:t>data platform</a:t>
            </a:r>
            <a:r>
              <a:rPr lang="en" sz="1200">
                <a:solidFill>
                  <a:srgbClr val="0F1115"/>
                </a:solidFill>
                <a:highlight>
                  <a:srgbClr val="FFFFFF"/>
                </a:highlight>
                <a:latin typeface="Roboto"/>
                <a:ea typeface="Roboto"/>
                <a:cs typeface="Roboto"/>
                <a:sym typeface="Roboto"/>
              </a:rPr>
              <a:t> front.</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Palantir's Foundry doesn't care about your CAD geometry. It cares about connecting your data. It would eat your lunch by:</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Building connectors to your SAP, your CAD PDM, your maintenance logs.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Putting it all in one place.</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AutoNum type="arabicPeriod"/>
            </a:pPr>
            <a:r>
              <a:rPr lang="en" sz="1200">
                <a:solidFill>
                  <a:srgbClr val="0F1115"/>
                </a:solidFill>
                <a:highlight>
                  <a:srgbClr val="FFFFFF"/>
                </a:highlight>
                <a:latin typeface="Roboto"/>
                <a:ea typeface="Roboto"/>
                <a:cs typeface="Roboto"/>
                <a:sym typeface="Roboto"/>
              </a:rPr>
              <a:t>Selling you back the insights.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They win by owning the data layer. They don't need to build a better CAD system; they just need to be the platform that connects all your existing systems.</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50"/>
          <p:cNvSpPr txBox="1"/>
          <p:nvPr/>
        </p:nvSpPr>
        <p:spPr>
          <a:xfrm>
            <a:off x="165700" y="1222025"/>
            <a:ext cx="8699100" cy="287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The Only Winning Move for ST Engineering</a:t>
            </a:r>
            <a:endParaRPr b="1" sz="15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 cannot out-Siemens Siemens. You cannot out-Palantir Palantir. So you must do what they cannot.</a:t>
            </a:r>
            <a:endParaRPr sz="12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rgbClr val="0F1115"/>
                </a:solidFill>
                <a:highlight>
                  <a:srgbClr val="FFFFFF"/>
                </a:highlight>
                <a:latin typeface="Roboto"/>
                <a:ea typeface="Roboto"/>
                <a:cs typeface="Roboto"/>
                <a:sym typeface="Roboto"/>
              </a:rPr>
              <a:t>Your winning move is to build the platform for your </a:t>
            </a:r>
            <a:r>
              <a:rPr i="1" lang="en" sz="1200">
                <a:solidFill>
                  <a:srgbClr val="0F1115"/>
                </a:solidFill>
                <a:highlight>
                  <a:srgbClr val="FFFFFF"/>
                </a:highlight>
                <a:latin typeface="Roboto"/>
                <a:ea typeface="Roboto"/>
                <a:cs typeface="Roboto"/>
                <a:sym typeface="Roboto"/>
              </a:rPr>
              <a:t>domain</a:t>
            </a:r>
            <a:r>
              <a:rPr lang="en" sz="1200">
                <a:solidFill>
                  <a:srgbClr val="0F1115"/>
                </a:solidFill>
                <a:highlight>
                  <a:srgbClr val="FFFFFF"/>
                </a:highlight>
                <a:latin typeface="Roboto"/>
                <a:ea typeface="Roboto"/>
                <a:cs typeface="Roboto"/>
                <a:sym typeface="Roboto"/>
              </a:rPr>
              <a:t>: Aerospace, Defence, and Smart City infrastructure.</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Advantage: You have the deep, proprietary, domain-specific data they don't. You feel the pain points of multi-CAD hell in a way they never will.</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Your Strategy: Build the platform that solves your own problems first. Become the best in the world at managing </a:t>
            </a:r>
            <a:r>
              <a:rPr i="1" lang="en" sz="1200">
                <a:solidFill>
                  <a:srgbClr val="0F1115"/>
                </a:solidFill>
                <a:highlight>
                  <a:srgbClr val="FFFFFF"/>
                </a:highlight>
                <a:latin typeface="Roboto"/>
                <a:ea typeface="Roboto"/>
                <a:cs typeface="Roboto"/>
                <a:sym typeface="Roboto"/>
              </a:rPr>
              <a:t>your</a:t>
            </a:r>
            <a:r>
              <a:rPr lang="en" sz="1200">
                <a:solidFill>
                  <a:srgbClr val="0F1115"/>
                </a:solidFill>
                <a:highlight>
                  <a:srgbClr val="FFFFFF"/>
                </a:highlight>
                <a:latin typeface="Roboto"/>
                <a:ea typeface="Roboto"/>
                <a:cs typeface="Roboto"/>
                <a:sym typeface="Roboto"/>
              </a:rPr>
              <a:t> engineering data.</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Start by solving "find and reuse" for ST Engineering.</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Then, use that platform to enforce your specific design rules.</a:t>
            </a:r>
            <a:endParaRPr sz="1200">
              <a:solidFill>
                <a:srgbClr val="0F1115"/>
              </a:solidFill>
              <a:highlight>
                <a:srgbClr val="FFFFFF"/>
              </a:highlight>
              <a:latin typeface="Roboto"/>
              <a:ea typeface="Roboto"/>
              <a:cs typeface="Roboto"/>
              <a:sym typeface="Roboto"/>
            </a:endParaRPr>
          </a:p>
          <a:p>
            <a:pPr indent="-304800" lvl="1" marL="9144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Then, and only then, can you think about adding AI features trained on </a:t>
            </a:r>
            <a:r>
              <a:rPr i="1" lang="en" sz="1200">
                <a:solidFill>
                  <a:srgbClr val="0F1115"/>
                </a:solidFill>
                <a:highlight>
                  <a:srgbClr val="FFFFFF"/>
                </a:highlight>
                <a:latin typeface="Roboto"/>
                <a:ea typeface="Roboto"/>
                <a:cs typeface="Roboto"/>
                <a:sym typeface="Roboto"/>
              </a:rPr>
              <a:t>your</a:t>
            </a:r>
            <a:r>
              <a:rPr lang="en" sz="1200">
                <a:solidFill>
                  <a:srgbClr val="0F1115"/>
                </a:solidFill>
                <a:highlight>
                  <a:srgbClr val="FFFFFF"/>
                </a:highlight>
                <a:latin typeface="Roboto"/>
                <a:ea typeface="Roboto"/>
                <a:cs typeface="Roboto"/>
                <a:sym typeface="Roboto"/>
              </a:rPr>
              <a:t> data.</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748" name="Shape 748"/>
        <p:cNvGrpSpPr/>
        <p:nvPr/>
      </p:nvGrpSpPr>
      <p:grpSpPr>
        <a:xfrm>
          <a:off x="0" y="0"/>
          <a:ext cx="0" cy="0"/>
          <a:chOff x="0" y="0"/>
          <a:chExt cx="0" cy="0"/>
        </a:xfrm>
      </p:grpSpPr>
      <p:sp>
        <p:nvSpPr>
          <p:cNvPr id="749" name="Google Shape;749;p151"/>
          <p:cNvSpPr txBox="1"/>
          <p:nvPr/>
        </p:nvSpPr>
        <p:spPr>
          <a:xfrm>
            <a:off x="1581775" y="2274450"/>
            <a:ext cx="6147900" cy="210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rPr>
              <a:t>Perspective</a:t>
            </a:r>
            <a:endParaRPr sz="1800">
              <a:solidFill>
                <a:srgbClr val="595959"/>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52"/>
          <p:cNvSpPr txBox="1"/>
          <p:nvPr/>
        </p:nvSpPr>
        <p:spPr>
          <a:xfrm>
            <a:off x="462575" y="1605900"/>
            <a:ext cx="8077800" cy="193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His Way: "Win by Building a Better Feature"</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Battlefield: The AI feature itself. He sees the race as: "Who can build the best generative AI for 3D design?"</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Strategy: Direct confrontation. Hire experts to compete head-to-head with Siemens, NVIDIA, and Autodesk on their home turf (AI research and general-purpose CAD tools).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Assumption: The company with the smartest AI model wins.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Analogy: He wants ST Engineering to start a new car company to compete with Tesla by building a better electric motor. He's focused on the component.</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53"/>
          <p:cNvSpPr txBox="1"/>
          <p:nvPr/>
        </p:nvSpPr>
        <p:spPr>
          <a:xfrm>
            <a:off x="179500" y="1436050"/>
            <a:ext cx="8609400" cy="256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2400"/>
              </a:spcBef>
              <a:spcAft>
                <a:spcPts val="0"/>
              </a:spcAft>
              <a:buNone/>
            </a:pPr>
            <a:r>
              <a:rPr b="1" lang="en" sz="1500">
                <a:solidFill>
                  <a:srgbClr val="0F1115"/>
                </a:solidFill>
                <a:highlight>
                  <a:srgbClr val="FFFFFF"/>
                </a:highlight>
                <a:latin typeface="Roboto"/>
                <a:ea typeface="Roboto"/>
                <a:cs typeface="Roboto"/>
                <a:sym typeface="Roboto"/>
              </a:rPr>
              <a:t>Your Way: "Win by Building a Better Ecosystem"</a:t>
            </a:r>
            <a:endParaRPr b="1" sz="1500">
              <a:solidFill>
                <a:srgbClr val="0F1115"/>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Battlefield: The platform and the data. You see the race as: "Who can build the most valuable, domain-specific ecosystem for engineering data?"</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Strategy: Avoid direct confrontation. Instead, leverage your unassailable advantage—your proprietary data and domain expertise—to create a fortress in your niche. You make your platform </a:t>
            </a:r>
            <a:r>
              <a:rPr i="1" lang="en" sz="1200">
                <a:solidFill>
                  <a:srgbClr val="0F1115"/>
                </a:solidFill>
                <a:highlight>
                  <a:srgbClr val="FFFFFF"/>
                </a:highlight>
                <a:latin typeface="Roboto"/>
                <a:ea typeface="Roboto"/>
                <a:cs typeface="Roboto"/>
                <a:sym typeface="Roboto"/>
              </a:rPr>
              <a:t>indispensable</a:t>
            </a:r>
            <a:r>
              <a:rPr lang="en" sz="1200">
                <a:solidFill>
                  <a:srgbClr val="0F1115"/>
                </a:solidFill>
                <a:highlight>
                  <a:srgbClr val="FFFFFF"/>
                </a:highlight>
                <a:latin typeface="Roboto"/>
                <a:ea typeface="Roboto"/>
                <a:cs typeface="Roboto"/>
                <a:sym typeface="Roboto"/>
              </a:rPr>
              <a:t> for your specific industry.</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Assumption: The company with the best data foundation wins, because data is the fuel for AI. Without it, the best AI engine is useless.</a:t>
            </a:r>
            <a:endParaRPr sz="1200">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Char char="●"/>
            </a:pPr>
            <a:r>
              <a:rPr lang="en" sz="1200">
                <a:solidFill>
                  <a:srgbClr val="0F1115"/>
                </a:solidFill>
                <a:highlight>
                  <a:srgbClr val="FFFFFF"/>
                </a:highlight>
                <a:latin typeface="Roboto"/>
                <a:ea typeface="Roboto"/>
                <a:cs typeface="Roboto"/>
                <a:sym typeface="Roboto"/>
              </a:rPr>
              <a:t>The Analogy: You want ST Engineering to become the "Android of Aerospace." You don't build the phone hardware (the CAD system) or just the apps (the AI features). You build the operating system that all the hardware and apps run on. Your value is in connecting and controlling the ecosystem.</a:t>
            </a:r>
            <a:endParaRPr sz="1200">
              <a:solidFill>
                <a:srgbClr val="0F1115"/>
              </a:solidFill>
              <a:highlight>
                <a:srgbClr val="FFFFFF"/>
              </a:highlight>
              <a:latin typeface="Roboto"/>
              <a:ea typeface="Roboto"/>
              <a:cs typeface="Roboto"/>
              <a:sym typeface="Roboto"/>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graphicFrame>
        <p:nvGraphicFramePr>
          <p:cNvPr id="764" name="Google Shape;764;p154"/>
          <p:cNvGraphicFramePr/>
          <p:nvPr/>
        </p:nvGraphicFramePr>
        <p:xfrm>
          <a:off x="304300" y="714375"/>
          <a:ext cx="3000000" cy="3000000"/>
        </p:xfrm>
        <a:graphic>
          <a:graphicData uri="http://schemas.openxmlformats.org/drawingml/2006/table">
            <a:tbl>
              <a:tblPr>
                <a:solidFill>
                  <a:srgbClr val="FFFFFF"/>
                </a:solidFill>
                <a:tableStyleId>{E140739C-67F7-4B14-85D5-AACBD16AE2FA}</a:tableStyleId>
              </a:tblPr>
              <a:tblGrid>
                <a:gridCol w="2518050"/>
                <a:gridCol w="2817375"/>
                <a:gridCol w="3099125"/>
              </a:tblGrid>
              <a:tr h="4705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His Approach (The "Feature" Fight)</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Approach (The "Platform" Fight)</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r>
              <a:tr h="4705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Competitors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Siemens, NVIDIA, Autodesk</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Palantir, other data platform companies</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4775">
                      <a:solidFill>
                        <a:srgbClr val="000000"/>
                      </a:solidFill>
                      <a:prstDash val="solid"/>
                      <a:round/>
                      <a:headEnd len="sm" w="sm" type="none"/>
                      <a:tailEnd len="sm" w="sm" type="none"/>
                    </a:lnB>
                  </a:tcPr>
                </a:tc>
              </a:tr>
              <a:tr h="4705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Your Weapon</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AI Algorithms</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Proprietary Data + Domain Knowledge</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4705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Resource Fight</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An unwinnable war for AI talent.</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 winnable war to organize our own data.</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7528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Result of Winning</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have one feature that's slightly better.</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have control over the entire engineering workflow.</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75280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The Endgame</a:t>
                      </a:r>
                      <a:endParaRPr sz="1150">
                        <a:solidFill>
                          <a:srgbClr val="0F1115"/>
                        </a:solidFill>
                        <a:highlight>
                          <a:srgbClr val="FFFFFF"/>
                        </a:highlight>
                        <a:latin typeface="Roboto"/>
                        <a:ea typeface="Roboto"/>
                        <a:cs typeface="Roboto"/>
                        <a:sym typeface="Roboto"/>
                      </a:endParaRPr>
                    </a:p>
                  </a:txBody>
                  <a:tcPr marT="95250" marB="95250" marR="152400" marL="91425">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become a niche plugin vendor.</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You become the essential data backbone of your industry.</a:t>
                      </a:r>
                      <a:endParaRPr sz="1150">
                        <a:solidFill>
                          <a:srgbClr val="0F1115"/>
                        </a:solidFill>
                        <a:highlight>
                          <a:srgbClr val="FFFFFF"/>
                        </a:highlight>
                        <a:latin typeface="Roboto"/>
                        <a:ea typeface="Roboto"/>
                        <a:cs typeface="Roboto"/>
                        <a:sym typeface="Roboto"/>
                      </a:endParaRPr>
                    </a:p>
                  </a:txBody>
                  <a:tcPr marT="95250" marB="95250" marR="152400" marL="152400">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